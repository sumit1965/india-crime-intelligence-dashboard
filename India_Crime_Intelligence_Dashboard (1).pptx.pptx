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ibri (MS) Bold" charset="1" panose="020F0702030404030204"/>
      <p:regular r:id="rId19"/>
    </p:embeddedFont>
    <p:embeddedFont>
      <p:font typeface="TT Phobos Bold" charset="1" panose="02000803060000020004"/>
      <p:regular r:id="rId20"/>
    </p:embeddedFont>
    <p:embeddedFont>
      <p:font typeface="Calibri (MS)" charset="1" panose="020F0502020204030204"/>
      <p:regular r:id="rId21"/>
    </p:embeddedFont>
    <p:embeddedFont>
      <p:font typeface="Courier New" charset="1" panose="02070309020205020404"/>
      <p:regular r:id="rId24"/>
    </p:embeddedFont>
    <p:embeddedFont>
      <p:font typeface="Courier New Italics" charset="1" panose="02070409020205090404"/>
      <p:regular r:id="rId25"/>
    </p:embeddedFont>
    <p:embeddedFont>
      <p:font typeface="Calibri (MS) Italics" charset="1" panose="020F05020202040A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everyone. I'm Sumit Suryavanshi, and today I'll be walking you through my Tableau project — the India Crime Intelligence Dashboard. This dashboard pulls together ten years of national crime data, from 2015 to 2024, across more than 28 states and union territories, and brings it together from three separate data sources into one interactive view. Over the next few minutes, I'll show you what the dashboard answers, how I built and debugged it, and the actual insights it surfaces. Let's start with why I built it.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I show you any charts, let me frame the problem. This dashboard was built to answer six specific questions: which states carry the heaviest crime burden, how cyber crime is evolving separately from physical crime, whether there's any seasonality or anomaly in the ten-year trend, how to avoid confusing similarly-worded legal categories, what the financial impact of cyber fraud actually looks like, and finally, making sure none of this requires static screenshots — everything needed to be filterable by year, state, and a top-N ranking. That last point is important, because it's the difference between a report and a dashboard.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dashboard is built on three separate CSV sources, joined through Tableau's federated data layer rather than one giant flat file. The main table is the state-year crime summary, which spans the full ten years and includes every state and crime domain. The second source is a national cyber-scam complaints table with financial figures — that's where the average loss per complaint comes from. The third source is fraud subtypes, but it's worth flagging honestly: that one only has 2024 data, no history, so I treat it differently in the dashboard and don't force a year filter onto it.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dashboard didn't start out interactive — it started as a static Tableau export that only worked on one screen size, with half its filters hardcoded. I want to walk through the real debugging process, not just the finished result, because this is the part that actually demonstrates Tableau skill. First, I fixed the canvas sizing and converted floating zones to a tiled layout, which solved the overlap and clipping issues. Then I found that three of my six charts — the composition chart, the donut, and the pareto chart — were silently ignoring my Select Year parameter because they had old fixed-year filters sitting underneath. I built one reusable calculated field, YearMatch, and wired it into each. I also went through and fixed inconsistent coloring, relabeled confusing legal categories, and added two chart types you don't usually see in a student project: a lollipop chart and a waterfall chart.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the two pieces of logic doing the real work behind the dashboard. YearMatch is the calculated field I reuse across every chart that needed to respond to the Select Year parameter — it's what fixed the three charts that were silently ignoring the year filter. And the two parameters, Select Year and Top N, are what let a viewer actually control the dashboard instead of just looking at a fixed snapshot.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Starting with the headline numbers: total crime sits at just over 6.2 million cases, up 7.2% year over year, with cyber crime at 86,420 and murder cases at 27,721. The state breakdown is where it gets interesting — Uttar Pradesh alone reports nearly a third more cases than the next closest state, Maharashtra. I also want to call out an anomaly rather than hide it: 2020 shows a sharp spike to over 14 million cases, which lines up with COVID lockdown-era reporting changes, not necessarily a genuine crime surge — that's the kind of context a dashboard needs, not just raw numbers. And across domains, crime against women is the largest single category after general cheating offences, at 448,000-plus cases.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Cyber crime is the fastest-moving part of this dataset. It's grown from about 44,500 cases in 2019 to nearly 102,000 in 2024 — that's a 129% increase, and most of that growth happened after 2021. The category breakdown follows a textbook Pareto pattern: Fraud and Online Fraud alone account for over 80% of all cyber complaints, while categories like gambling, fake news and UPI fraud barely register in comparison. That matters operationally — if you're allocating cybercrime-cell resources, you'd focus overwhelmingly on those top two categories first.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Looking at composition rather than raw counts: cheating-related offences, split across two legal sections, make up more than 80% of the cyber crime head breakdown on their own. Online banking fraud and identity theft are smaller slices — together around 11% — but they carry a much higher financial impact per case, which is why I pulled in the separate average-loss dataset earlier. And this composition pattern isn't a one-off — crime against women dominates the domain breakdown in eight of the top ten states, so it's a structural pattern, not a fluke in one state's data.</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bring it together: crime volume is genuinely rising, up 7.2% year over year, and it's concentrated — Uttar Pradesh alone accounts for nearly 13% of the national total, so that's where attention and resourcing should start. Cyber crime is the fastest-growing threat in this dataset, more than doubling in five years, and again concentrated in just two categories. On the build side, I want to be upfront about two things: legal category labels in the raw data were genuinely confusing — two different sections both read as 'cheating' in plain English — and I had to relabel them to prevent misreading. And there's a real data gap in the map for certain years, which I've documented rather than hidden. I'd rather show you an honest dashboard with a known gap than a falsely complete one. Finally, this isn't a static report — every chart you've seen today is filterable by year and state, live, on the dashboard itself.</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That's the full walkthrough — three data sources, ten years of crime data, six working calculated fields, and 6.24 million cases tracked in one interactive dashboard. Thank you for your time. Happy to open it up and click through the live version if you'd like to see the filters in action, or take any questions.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0B0F19"/>
            </a:solidFill>
          </p:spPr>
        </p:sp>
      </p:grpSp>
      <p:grpSp>
        <p:nvGrpSpPr>
          <p:cNvPr name="Group 4" id="4"/>
          <p:cNvGrpSpPr/>
          <p:nvPr/>
        </p:nvGrpSpPr>
        <p:grpSpPr>
          <a:xfrm rot="0">
            <a:off x="1303020" y="1234440"/>
            <a:ext cx="3429000" cy="576072"/>
            <a:chOff x="0" y="0"/>
            <a:chExt cx="4572000" cy="768096"/>
          </a:xfrm>
        </p:grpSpPr>
        <p:sp>
          <p:nvSpPr>
            <p:cNvPr name="Freeform 5" id="5"/>
            <p:cNvSpPr/>
            <p:nvPr/>
          </p:nvSpPr>
          <p:spPr>
            <a:xfrm flipH="false" flipV="false" rot="0">
              <a:off x="0" y="0"/>
              <a:ext cx="4572000" cy="768096"/>
            </a:xfrm>
            <a:custGeom>
              <a:avLst/>
              <a:gdLst/>
              <a:ahLst/>
              <a:cxnLst/>
              <a:rect r="r" b="b" t="t" l="l"/>
              <a:pathLst>
                <a:path h="768096" w="4572000">
                  <a:moveTo>
                    <a:pt x="0" y="384048"/>
                  </a:moveTo>
                  <a:cubicBezTo>
                    <a:pt x="0" y="171958"/>
                    <a:pt x="171958" y="0"/>
                    <a:pt x="384048" y="0"/>
                  </a:cubicBezTo>
                  <a:lnTo>
                    <a:pt x="4187952" y="0"/>
                  </a:lnTo>
                  <a:cubicBezTo>
                    <a:pt x="4400042" y="0"/>
                    <a:pt x="4572000" y="171958"/>
                    <a:pt x="4572000" y="384048"/>
                  </a:cubicBezTo>
                  <a:cubicBezTo>
                    <a:pt x="4572000" y="596138"/>
                    <a:pt x="4400042" y="768096"/>
                    <a:pt x="4187952" y="768096"/>
                  </a:cubicBezTo>
                  <a:lnTo>
                    <a:pt x="384048" y="768096"/>
                  </a:lnTo>
                  <a:cubicBezTo>
                    <a:pt x="171958" y="768096"/>
                    <a:pt x="0" y="596138"/>
                    <a:pt x="0" y="384048"/>
                  </a:cubicBezTo>
                  <a:close/>
                </a:path>
              </a:pathLst>
            </a:custGeom>
            <a:solidFill>
              <a:srgbClr val="E8A33D"/>
            </a:solidFill>
          </p:spPr>
        </p:sp>
      </p:grpSp>
      <p:grpSp>
        <p:nvGrpSpPr>
          <p:cNvPr name="Group 6" id="6"/>
          <p:cNvGrpSpPr/>
          <p:nvPr/>
        </p:nvGrpSpPr>
        <p:grpSpPr>
          <a:xfrm rot="0">
            <a:off x="1303020" y="1234440"/>
            <a:ext cx="3429000" cy="576072"/>
            <a:chOff x="0" y="0"/>
            <a:chExt cx="4572000" cy="768096"/>
          </a:xfrm>
        </p:grpSpPr>
        <p:sp>
          <p:nvSpPr>
            <p:cNvPr name="Freeform 7" id="7"/>
            <p:cNvSpPr/>
            <p:nvPr/>
          </p:nvSpPr>
          <p:spPr>
            <a:xfrm flipH="false" flipV="false" rot="0">
              <a:off x="0" y="0"/>
              <a:ext cx="4572000" cy="768096"/>
            </a:xfrm>
            <a:custGeom>
              <a:avLst/>
              <a:gdLst/>
              <a:ahLst/>
              <a:cxnLst/>
              <a:rect r="r" b="b" t="t" l="l"/>
              <a:pathLst>
                <a:path h="768096" w="4572000">
                  <a:moveTo>
                    <a:pt x="0" y="0"/>
                  </a:moveTo>
                  <a:lnTo>
                    <a:pt x="4572000" y="0"/>
                  </a:lnTo>
                  <a:lnTo>
                    <a:pt x="4572000" y="768096"/>
                  </a:lnTo>
                  <a:lnTo>
                    <a:pt x="0" y="768096"/>
                  </a:lnTo>
                  <a:close/>
                </a:path>
              </a:pathLst>
            </a:custGeom>
            <a:blipFill>
              <a:blip r:embed="rId3">
                <a:alphaModFix amt="0"/>
              </a:blip>
              <a:stretch>
                <a:fillRect l="0" t="-65982" r="0" b="-65982"/>
              </a:stretch>
            </a:blipFill>
          </p:spPr>
        </p:sp>
        <p:sp>
          <p:nvSpPr>
            <p:cNvPr name="TextBox 8" id="8"/>
            <p:cNvSpPr txBox="true"/>
            <p:nvPr/>
          </p:nvSpPr>
          <p:spPr>
            <a:xfrm>
              <a:off x="0" y="-28575"/>
              <a:ext cx="4572000" cy="796671"/>
            </a:xfrm>
            <a:prstGeom prst="rect">
              <a:avLst/>
            </a:prstGeom>
          </p:spPr>
          <p:txBody>
            <a:bodyPr anchor="ctr" rtlCol="false" tIns="0" lIns="0" bIns="0" rIns="0"/>
            <a:lstStyle/>
            <a:p>
              <a:pPr algn="ctr">
                <a:lnSpc>
                  <a:spcPts val="1980"/>
                </a:lnSpc>
              </a:pPr>
              <a:r>
                <a:rPr lang="en-US" b="true" sz="1650" spc="225">
                  <a:solidFill>
                    <a:srgbClr val="FFFFFF"/>
                  </a:solidFill>
                  <a:latin typeface="Calibri (MS) Bold"/>
                  <a:ea typeface="Calibri (MS) Bold"/>
                  <a:cs typeface="Calibri (MS) Bold"/>
                  <a:sym typeface="Calibri (MS) Bold"/>
                </a:rPr>
                <a:t>TABLEAU PROJECT</a:t>
              </a:r>
            </a:p>
          </p:txBody>
        </p:sp>
      </p:grpSp>
      <p:sp>
        <p:nvSpPr>
          <p:cNvPr name="TextBox 9" id="9"/>
          <p:cNvSpPr txBox="true"/>
          <p:nvPr/>
        </p:nvSpPr>
        <p:spPr>
          <a:xfrm rot="0">
            <a:off x="1325880" y="3533775"/>
            <a:ext cx="15590520" cy="923925"/>
          </a:xfrm>
          <a:prstGeom prst="rect">
            <a:avLst/>
          </a:prstGeom>
        </p:spPr>
        <p:txBody>
          <a:bodyPr anchor="t" rtlCol="false" tIns="0" lIns="0" bIns="0" rIns="0">
            <a:spAutoFit/>
          </a:bodyPr>
          <a:lstStyle/>
          <a:p>
            <a:pPr algn="l">
              <a:lnSpc>
                <a:spcPts val="7200"/>
              </a:lnSpc>
            </a:pPr>
            <a:r>
              <a:rPr lang="en-US" b="true" sz="6000" spc="47">
                <a:solidFill>
                  <a:srgbClr val="FFFFFF"/>
                </a:solidFill>
                <a:latin typeface="TT Phobos Bold"/>
                <a:ea typeface="TT Phobos Bold"/>
                <a:cs typeface="TT Phobos Bold"/>
                <a:sym typeface="TT Phobos Bold"/>
              </a:rPr>
              <a:t>India Crime Intelligence Dashboard</a:t>
            </a:r>
          </a:p>
        </p:txBody>
      </p:sp>
      <p:sp>
        <p:nvSpPr>
          <p:cNvPr name="TextBox 10" id="10"/>
          <p:cNvSpPr txBox="true"/>
          <p:nvPr/>
        </p:nvSpPr>
        <p:spPr>
          <a:xfrm rot="0">
            <a:off x="1394460" y="5132070"/>
            <a:ext cx="13258800" cy="1200150"/>
          </a:xfrm>
          <a:prstGeom prst="rect">
            <a:avLst/>
          </a:prstGeom>
        </p:spPr>
        <p:txBody>
          <a:bodyPr anchor="t" rtlCol="false" tIns="0" lIns="0" bIns="0" rIns="0">
            <a:spAutoFit/>
          </a:bodyPr>
          <a:lstStyle/>
          <a:p>
            <a:pPr algn="l">
              <a:lnSpc>
                <a:spcPts val="2700"/>
              </a:lnSpc>
            </a:pPr>
            <a:r>
              <a:rPr lang="en-US" sz="2250">
                <a:solidFill>
                  <a:srgbClr val="C9C9D4"/>
                </a:solidFill>
                <a:latin typeface="Calibri (MS)"/>
                <a:ea typeface="Calibri (MS)"/>
                <a:cs typeface="Calibri (MS)"/>
                <a:sym typeface="Calibri (MS)"/>
              </a:rPr>
              <a:t>An interactive Tableau dashboard analysing national crime trends, state-wise hotspots, and cyber fraud patterns across India, 2015–2024.</a:t>
            </a:r>
          </a:p>
        </p:txBody>
      </p:sp>
      <p:grpSp>
        <p:nvGrpSpPr>
          <p:cNvPr name="Group 11" id="11"/>
          <p:cNvGrpSpPr/>
          <p:nvPr/>
        </p:nvGrpSpPr>
        <p:grpSpPr>
          <a:xfrm rot="0">
            <a:off x="1303020" y="7063740"/>
            <a:ext cx="3634740" cy="1371600"/>
            <a:chOff x="0" y="0"/>
            <a:chExt cx="4846320" cy="1828800"/>
          </a:xfrm>
        </p:grpSpPr>
        <p:sp>
          <p:nvSpPr>
            <p:cNvPr name="Freeform 12" id="12"/>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13" id="13"/>
          <p:cNvGrpSpPr/>
          <p:nvPr/>
        </p:nvGrpSpPr>
        <p:grpSpPr>
          <a:xfrm rot="0">
            <a:off x="1467612" y="7228332"/>
            <a:ext cx="3305556" cy="754380"/>
            <a:chOff x="0" y="0"/>
            <a:chExt cx="4407408" cy="1005840"/>
          </a:xfrm>
        </p:grpSpPr>
        <p:sp>
          <p:nvSpPr>
            <p:cNvPr name="Freeform 14" id="14"/>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15" id="15"/>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62.4L</a:t>
              </a:r>
            </a:p>
          </p:txBody>
        </p:sp>
      </p:grpSp>
      <p:grpSp>
        <p:nvGrpSpPr>
          <p:cNvPr name="Group 16" id="16"/>
          <p:cNvGrpSpPr/>
          <p:nvPr/>
        </p:nvGrpSpPr>
        <p:grpSpPr>
          <a:xfrm rot="0">
            <a:off x="1467612" y="7886700"/>
            <a:ext cx="3305556" cy="480060"/>
            <a:chOff x="0" y="0"/>
            <a:chExt cx="4407408" cy="640080"/>
          </a:xfrm>
        </p:grpSpPr>
        <p:sp>
          <p:nvSpPr>
            <p:cNvPr name="Freeform 17" id="17"/>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18" id="18"/>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Total Crime Cases</a:t>
              </a:r>
            </a:p>
          </p:txBody>
        </p:sp>
      </p:grpSp>
      <p:grpSp>
        <p:nvGrpSpPr>
          <p:cNvPr name="Group 19" id="19"/>
          <p:cNvGrpSpPr/>
          <p:nvPr/>
        </p:nvGrpSpPr>
        <p:grpSpPr>
          <a:xfrm rot="0">
            <a:off x="5212080" y="7063740"/>
            <a:ext cx="3634740" cy="1371600"/>
            <a:chOff x="0" y="0"/>
            <a:chExt cx="4846320" cy="1828800"/>
          </a:xfrm>
        </p:grpSpPr>
        <p:sp>
          <p:nvSpPr>
            <p:cNvPr name="Freeform 20" id="20"/>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21" id="21"/>
          <p:cNvGrpSpPr/>
          <p:nvPr/>
        </p:nvGrpSpPr>
        <p:grpSpPr>
          <a:xfrm rot="0">
            <a:off x="5376672" y="7228332"/>
            <a:ext cx="3305556" cy="754380"/>
            <a:chOff x="0" y="0"/>
            <a:chExt cx="4407408" cy="1005840"/>
          </a:xfrm>
        </p:grpSpPr>
        <p:sp>
          <p:nvSpPr>
            <p:cNvPr name="Freeform 22" id="22"/>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23" id="23"/>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28+</a:t>
              </a:r>
            </a:p>
          </p:txBody>
        </p:sp>
      </p:grpSp>
      <p:grpSp>
        <p:nvGrpSpPr>
          <p:cNvPr name="Group 24" id="24"/>
          <p:cNvGrpSpPr/>
          <p:nvPr/>
        </p:nvGrpSpPr>
        <p:grpSpPr>
          <a:xfrm rot="0">
            <a:off x="5376672" y="7886700"/>
            <a:ext cx="3305556" cy="480060"/>
            <a:chOff x="0" y="0"/>
            <a:chExt cx="4407408" cy="640080"/>
          </a:xfrm>
        </p:grpSpPr>
        <p:sp>
          <p:nvSpPr>
            <p:cNvPr name="Freeform 25" id="25"/>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26" id="26"/>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States &amp; UTs Covered</a:t>
              </a:r>
            </a:p>
          </p:txBody>
        </p:sp>
      </p:grpSp>
      <p:grpSp>
        <p:nvGrpSpPr>
          <p:cNvPr name="Group 27" id="27"/>
          <p:cNvGrpSpPr/>
          <p:nvPr/>
        </p:nvGrpSpPr>
        <p:grpSpPr>
          <a:xfrm rot="0">
            <a:off x="9121140" y="7063740"/>
            <a:ext cx="3634740" cy="1371600"/>
            <a:chOff x="0" y="0"/>
            <a:chExt cx="4846320" cy="1828800"/>
          </a:xfrm>
        </p:grpSpPr>
        <p:sp>
          <p:nvSpPr>
            <p:cNvPr name="Freeform 28" id="28"/>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29" id="29"/>
          <p:cNvGrpSpPr/>
          <p:nvPr/>
        </p:nvGrpSpPr>
        <p:grpSpPr>
          <a:xfrm rot="0">
            <a:off x="9285732" y="7228332"/>
            <a:ext cx="3305556" cy="754380"/>
            <a:chOff x="0" y="0"/>
            <a:chExt cx="4407408" cy="1005840"/>
          </a:xfrm>
        </p:grpSpPr>
        <p:sp>
          <p:nvSpPr>
            <p:cNvPr name="Freeform 30" id="30"/>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31" id="31"/>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10 Yrs</a:t>
              </a:r>
            </a:p>
          </p:txBody>
        </p:sp>
      </p:grpSp>
      <p:grpSp>
        <p:nvGrpSpPr>
          <p:cNvPr name="Group 32" id="32"/>
          <p:cNvGrpSpPr/>
          <p:nvPr/>
        </p:nvGrpSpPr>
        <p:grpSpPr>
          <a:xfrm rot="0">
            <a:off x="9285732" y="7886700"/>
            <a:ext cx="3305556" cy="480060"/>
            <a:chOff x="0" y="0"/>
            <a:chExt cx="4407408" cy="640080"/>
          </a:xfrm>
        </p:grpSpPr>
        <p:sp>
          <p:nvSpPr>
            <p:cNvPr name="Freeform 33" id="33"/>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34" id="34"/>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Data Span (2015–2024)</a:t>
              </a:r>
            </a:p>
          </p:txBody>
        </p:sp>
      </p:grpSp>
      <p:grpSp>
        <p:nvGrpSpPr>
          <p:cNvPr name="Group 35" id="35"/>
          <p:cNvGrpSpPr/>
          <p:nvPr/>
        </p:nvGrpSpPr>
        <p:grpSpPr>
          <a:xfrm rot="0">
            <a:off x="13030200" y="7063740"/>
            <a:ext cx="3634740" cy="1371600"/>
            <a:chOff x="0" y="0"/>
            <a:chExt cx="4846320" cy="1828800"/>
          </a:xfrm>
        </p:grpSpPr>
        <p:sp>
          <p:nvSpPr>
            <p:cNvPr name="Freeform 36" id="36"/>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37" id="37"/>
          <p:cNvGrpSpPr/>
          <p:nvPr/>
        </p:nvGrpSpPr>
        <p:grpSpPr>
          <a:xfrm rot="0">
            <a:off x="13194792" y="7228332"/>
            <a:ext cx="3305556" cy="754380"/>
            <a:chOff x="0" y="0"/>
            <a:chExt cx="4407408" cy="1005840"/>
          </a:xfrm>
        </p:grpSpPr>
        <p:sp>
          <p:nvSpPr>
            <p:cNvPr name="Freeform 38" id="38"/>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39" id="39"/>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3</a:t>
              </a:r>
            </a:p>
          </p:txBody>
        </p:sp>
      </p:grpSp>
      <p:grpSp>
        <p:nvGrpSpPr>
          <p:cNvPr name="Group 40" id="40"/>
          <p:cNvGrpSpPr/>
          <p:nvPr/>
        </p:nvGrpSpPr>
        <p:grpSpPr>
          <a:xfrm rot="0">
            <a:off x="13194792" y="7886700"/>
            <a:ext cx="3305556" cy="480060"/>
            <a:chOff x="0" y="0"/>
            <a:chExt cx="4407408" cy="640080"/>
          </a:xfrm>
        </p:grpSpPr>
        <p:sp>
          <p:nvSpPr>
            <p:cNvPr name="Freeform 41" id="41"/>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42" id="42"/>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Linked Data Sources</a:t>
              </a:r>
            </a:p>
          </p:txBody>
        </p:sp>
      </p:grpSp>
      <p:grpSp>
        <p:nvGrpSpPr>
          <p:cNvPr name="Group 43" id="43"/>
          <p:cNvGrpSpPr/>
          <p:nvPr/>
        </p:nvGrpSpPr>
        <p:grpSpPr>
          <a:xfrm rot="0">
            <a:off x="1303020" y="8983980"/>
            <a:ext cx="8229600" cy="480060"/>
            <a:chOff x="0" y="0"/>
            <a:chExt cx="10972800" cy="640080"/>
          </a:xfrm>
        </p:grpSpPr>
        <p:sp>
          <p:nvSpPr>
            <p:cNvPr name="Freeform 44" id="44"/>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45" id="45"/>
            <p:cNvSpPr txBox="true"/>
            <p:nvPr/>
          </p:nvSpPr>
          <p:spPr>
            <a:xfrm>
              <a:off x="0" y="-38100"/>
              <a:ext cx="10972800" cy="678180"/>
            </a:xfrm>
            <a:prstGeom prst="rect">
              <a:avLst/>
            </a:prstGeom>
          </p:spPr>
          <p:txBody>
            <a:bodyPr anchor="ctr" rtlCol="false" tIns="0" lIns="0" bIns="0" rIns="0"/>
            <a:lstStyle/>
            <a:p>
              <a:pPr algn="l">
                <a:lnSpc>
                  <a:spcPts val="2070"/>
                </a:lnSpc>
              </a:pPr>
              <a:r>
                <a:rPr lang="en-US" sz="1725">
                  <a:solidFill>
                    <a:srgbClr val="C9C9D4"/>
                  </a:solidFill>
                  <a:latin typeface="Calibri (MS)"/>
                  <a:ea typeface="Calibri (MS)"/>
                  <a:cs typeface="Calibri (MS)"/>
                  <a:sym typeface="Calibri (MS)"/>
                </a:rPr>
                <a:t>Presented by: Mr. Sumit Suryavanshi</a:t>
              </a:r>
            </a:p>
          </p:txBody>
        </p:sp>
      </p:grpSp>
      <p:sp>
        <p:nvSpPr>
          <p:cNvPr name="TextBox 46" id="46"/>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7A7A85"/>
                </a:solidFill>
                <a:latin typeface="Calibri (MS)"/>
                <a:ea typeface="Calibri (MS)"/>
                <a:cs typeface="Calibri (MS)"/>
                <a:sym typeface="Calibri (M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PROJECT OBJECTIVE</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What This Dashboard Sets Out to Answer</a:t>
            </a:r>
          </a:p>
        </p:txBody>
      </p:sp>
      <p:grpSp>
        <p:nvGrpSpPr>
          <p:cNvPr name="Group 7" id="7"/>
          <p:cNvGrpSpPr/>
          <p:nvPr/>
        </p:nvGrpSpPr>
        <p:grpSpPr>
          <a:xfrm rot="0">
            <a:off x="932688" y="2221992"/>
            <a:ext cx="5266944" cy="2359152"/>
            <a:chOff x="0" y="0"/>
            <a:chExt cx="7022592" cy="3145536"/>
          </a:xfrm>
        </p:grpSpPr>
        <p:sp>
          <p:nvSpPr>
            <p:cNvPr name="Freeform 8" id="8"/>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9" id="9"/>
          <p:cNvGrpSpPr/>
          <p:nvPr/>
        </p:nvGrpSpPr>
        <p:grpSpPr>
          <a:xfrm rot="0">
            <a:off x="1179576" y="2468880"/>
            <a:ext cx="630936" cy="630936"/>
            <a:chOff x="0" y="0"/>
            <a:chExt cx="841248" cy="841248"/>
          </a:xfrm>
        </p:grpSpPr>
        <p:sp>
          <p:nvSpPr>
            <p:cNvPr name="Freeform 10" id="10"/>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E8A33D">
                <a:alpha val="1961"/>
              </a:srgbClr>
            </a:solidFill>
          </p:spPr>
        </p:sp>
      </p:grpSp>
      <p:grpSp>
        <p:nvGrpSpPr>
          <p:cNvPr name="Group 11" id="11"/>
          <p:cNvGrpSpPr/>
          <p:nvPr/>
        </p:nvGrpSpPr>
        <p:grpSpPr>
          <a:xfrm rot="0">
            <a:off x="1179576" y="2468880"/>
            <a:ext cx="630936" cy="630936"/>
            <a:chOff x="0" y="0"/>
            <a:chExt cx="841248" cy="841248"/>
          </a:xfrm>
        </p:grpSpPr>
        <p:sp>
          <p:nvSpPr>
            <p:cNvPr name="Freeform 12" id="12"/>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13" id="13"/>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14" id="14"/>
          <p:cNvGrpSpPr/>
          <p:nvPr/>
        </p:nvGrpSpPr>
        <p:grpSpPr>
          <a:xfrm rot="0">
            <a:off x="1975104" y="2427732"/>
            <a:ext cx="4032504" cy="466344"/>
            <a:chOff x="0" y="0"/>
            <a:chExt cx="5376672" cy="621792"/>
          </a:xfrm>
        </p:grpSpPr>
        <p:sp>
          <p:nvSpPr>
            <p:cNvPr name="Freeform 15" id="15"/>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16" id="16"/>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State-wise Hotspots</a:t>
              </a:r>
            </a:p>
          </p:txBody>
        </p:sp>
      </p:grpSp>
      <p:sp>
        <p:nvSpPr>
          <p:cNvPr name="TextBox 17" id="17"/>
          <p:cNvSpPr txBox="true"/>
          <p:nvPr/>
        </p:nvSpPr>
        <p:spPr>
          <a:xfrm rot="0">
            <a:off x="1179576" y="316191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Identify which states report the highest crime volumes and how they rank against each other.</a:t>
            </a:r>
          </a:p>
        </p:txBody>
      </p:sp>
      <p:grpSp>
        <p:nvGrpSpPr>
          <p:cNvPr name="Group 18" id="18"/>
          <p:cNvGrpSpPr/>
          <p:nvPr/>
        </p:nvGrpSpPr>
        <p:grpSpPr>
          <a:xfrm rot="0">
            <a:off x="6446520" y="2221992"/>
            <a:ext cx="5266944" cy="2359152"/>
            <a:chOff x="0" y="0"/>
            <a:chExt cx="7022592" cy="3145536"/>
          </a:xfrm>
        </p:grpSpPr>
        <p:sp>
          <p:nvSpPr>
            <p:cNvPr name="Freeform 19" id="19"/>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20" id="20"/>
          <p:cNvGrpSpPr/>
          <p:nvPr/>
        </p:nvGrpSpPr>
        <p:grpSpPr>
          <a:xfrm rot="0">
            <a:off x="6693408" y="2468880"/>
            <a:ext cx="630936" cy="630936"/>
            <a:chOff x="0" y="0"/>
            <a:chExt cx="841248" cy="841248"/>
          </a:xfrm>
        </p:grpSpPr>
        <p:sp>
          <p:nvSpPr>
            <p:cNvPr name="Freeform 21" id="21"/>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F9D8A">
                <a:alpha val="1961"/>
              </a:srgbClr>
            </a:solidFill>
          </p:spPr>
        </p:sp>
      </p:grpSp>
      <p:grpSp>
        <p:nvGrpSpPr>
          <p:cNvPr name="Group 22" id="22"/>
          <p:cNvGrpSpPr/>
          <p:nvPr/>
        </p:nvGrpSpPr>
        <p:grpSpPr>
          <a:xfrm rot="0">
            <a:off x="6693408" y="2468880"/>
            <a:ext cx="630936" cy="630936"/>
            <a:chOff x="0" y="0"/>
            <a:chExt cx="841248" cy="841248"/>
          </a:xfrm>
        </p:grpSpPr>
        <p:sp>
          <p:nvSpPr>
            <p:cNvPr name="Freeform 23" id="23"/>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24" id="24"/>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25" id="25"/>
          <p:cNvGrpSpPr/>
          <p:nvPr/>
        </p:nvGrpSpPr>
        <p:grpSpPr>
          <a:xfrm rot="0">
            <a:off x="7488936" y="2427732"/>
            <a:ext cx="4032504" cy="466344"/>
            <a:chOff x="0" y="0"/>
            <a:chExt cx="5376672" cy="621792"/>
          </a:xfrm>
        </p:grpSpPr>
        <p:sp>
          <p:nvSpPr>
            <p:cNvPr name="Freeform 26" id="26"/>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27" id="27"/>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Cyber Crime Deep-Dive</a:t>
              </a:r>
            </a:p>
          </p:txBody>
        </p:sp>
      </p:grpSp>
      <p:sp>
        <p:nvSpPr>
          <p:cNvPr name="TextBox 28" id="28"/>
          <p:cNvSpPr txBox="true"/>
          <p:nvPr/>
        </p:nvSpPr>
        <p:spPr>
          <a:xfrm rot="0">
            <a:off x="6693408" y="316191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Break digital fraud into legal categories and track its growing share of total crime.</a:t>
            </a:r>
          </a:p>
        </p:txBody>
      </p:sp>
      <p:grpSp>
        <p:nvGrpSpPr>
          <p:cNvPr name="Group 29" id="29"/>
          <p:cNvGrpSpPr/>
          <p:nvPr/>
        </p:nvGrpSpPr>
        <p:grpSpPr>
          <a:xfrm rot="0">
            <a:off x="11960352" y="2221992"/>
            <a:ext cx="5266944" cy="2359152"/>
            <a:chOff x="0" y="0"/>
            <a:chExt cx="7022592" cy="3145536"/>
          </a:xfrm>
        </p:grpSpPr>
        <p:sp>
          <p:nvSpPr>
            <p:cNvPr name="Freeform 30" id="30"/>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31" id="31"/>
          <p:cNvGrpSpPr/>
          <p:nvPr/>
        </p:nvGrpSpPr>
        <p:grpSpPr>
          <a:xfrm rot="0">
            <a:off x="12207240" y="2468880"/>
            <a:ext cx="630936" cy="630936"/>
            <a:chOff x="0" y="0"/>
            <a:chExt cx="841248" cy="841248"/>
          </a:xfrm>
        </p:grpSpPr>
        <p:sp>
          <p:nvSpPr>
            <p:cNvPr name="Freeform 32" id="3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C23B3B">
                <a:alpha val="1961"/>
              </a:srgbClr>
            </a:solidFill>
          </p:spPr>
        </p:sp>
      </p:grpSp>
      <p:grpSp>
        <p:nvGrpSpPr>
          <p:cNvPr name="Group 33" id="33"/>
          <p:cNvGrpSpPr/>
          <p:nvPr/>
        </p:nvGrpSpPr>
        <p:grpSpPr>
          <a:xfrm rot="0">
            <a:off x="12207240" y="2468880"/>
            <a:ext cx="630936" cy="630936"/>
            <a:chOff x="0" y="0"/>
            <a:chExt cx="841248" cy="841248"/>
          </a:xfrm>
        </p:grpSpPr>
        <p:sp>
          <p:nvSpPr>
            <p:cNvPr name="Freeform 34" id="3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35" id="35"/>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36" id="36"/>
          <p:cNvGrpSpPr/>
          <p:nvPr/>
        </p:nvGrpSpPr>
        <p:grpSpPr>
          <a:xfrm rot="0">
            <a:off x="13002768" y="2427732"/>
            <a:ext cx="4032504" cy="466344"/>
            <a:chOff x="0" y="0"/>
            <a:chExt cx="5376672" cy="621792"/>
          </a:xfrm>
        </p:grpSpPr>
        <p:sp>
          <p:nvSpPr>
            <p:cNvPr name="Freeform 37" id="37"/>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38" id="38"/>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Trend &amp; Anomalies</a:t>
              </a:r>
            </a:p>
          </p:txBody>
        </p:sp>
      </p:grpSp>
      <p:sp>
        <p:nvSpPr>
          <p:cNvPr name="TextBox 39" id="39"/>
          <p:cNvSpPr txBox="true"/>
          <p:nvPr/>
        </p:nvSpPr>
        <p:spPr>
          <a:xfrm rot="0">
            <a:off x="12207240" y="316191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Track total crime from 2015–2024, flagging anomalies like the COVID lockdown spike.</a:t>
            </a:r>
          </a:p>
        </p:txBody>
      </p:sp>
      <p:grpSp>
        <p:nvGrpSpPr>
          <p:cNvPr name="Group 40" id="40"/>
          <p:cNvGrpSpPr/>
          <p:nvPr/>
        </p:nvGrpSpPr>
        <p:grpSpPr>
          <a:xfrm rot="0">
            <a:off x="932688" y="4828032"/>
            <a:ext cx="5266944" cy="2359152"/>
            <a:chOff x="0" y="0"/>
            <a:chExt cx="7022592" cy="3145536"/>
          </a:xfrm>
        </p:grpSpPr>
        <p:sp>
          <p:nvSpPr>
            <p:cNvPr name="Freeform 41" id="41"/>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42" id="42"/>
          <p:cNvGrpSpPr/>
          <p:nvPr/>
        </p:nvGrpSpPr>
        <p:grpSpPr>
          <a:xfrm rot="0">
            <a:off x="1179576" y="5074920"/>
            <a:ext cx="630936" cy="630936"/>
            <a:chOff x="0" y="0"/>
            <a:chExt cx="841248" cy="841248"/>
          </a:xfrm>
        </p:grpSpPr>
        <p:sp>
          <p:nvSpPr>
            <p:cNvPr name="Freeform 43" id="43"/>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E8A33D">
                <a:alpha val="1961"/>
              </a:srgbClr>
            </a:solidFill>
          </p:spPr>
        </p:sp>
      </p:grpSp>
      <p:grpSp>
        <p:nvGrpSpPr>
          <p:cNvPr name="Group 44" id="44"/>
          <p:cNvGrpSpPr/>
          <p:nvPr/>
        </p:nvGrpSpPr>
        <p:grpSpPr>
          <a:xfrm rot="0">
            <a:off x="1179576" y="5074920"/>
            <a:ext cx="630936" cy="630936"/>
            <a:chOff x="0" y="0"/>
            <a:chExt cx="841248" cy="841248"/>
          </a:xfrm>
        </p:grpSpPr>
        <p:sp>
          <p:nvSpPr>
            <p:cNvPr name="Freeform 45" id="45"/>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46" id="46"/>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47" id="47"/>
          <p:cNvGrpSpPr/>
          <p:nvPr/>
        </p:nvGrpSpPr>
        <p:grpSpPr>
          <a:xfrm rot="0">
            <a:off x="1975104" y="5033772"/>
            <a:ext cx="4032504" cy="466344"/>
            <a:chOff x="0" y="0"/>
            <a:chExt cx="5376672" cy="621792"/>
          </a:xfrm>
        </p:grpSpPr>
        <p:sp>
          <p:nvSpPr>
            <p:cNvPr name="Freeform 48" id="48"/>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49" id="49"/>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Legal Category Clarity</a:t>
              </a:r>
            </a:p>
          </p:txBody>
        </p:sp>
      </p:grpSp>
      <p:sp>
        <p:nvSpPr>
          <p:cNvPr name="TextBox 50" id="50"/>
          <p:cNvSpPr txBox="true"/>
          <p:nvPr/>
        </p:nvSpPr>
        <p:spPr>
          <a:xfrm rot="0">
            <a:off x="1179576" y="576795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Distinguish overlapping-sounding crime heads — cheating, fraud, impersonation — by actual legal section.</a:t>
            </a:r>
          </a:p>
        </p:txBody>
      </p:sp>
      <p:grpSp>
        <p:nvGrpSpPr>
          <p:cNvPr name="Group 51" id="51"/>
          <p:cNvGrpSpPr/>
          <p:nvPr/>
        </p:nvGrpSpPr>
        <p:grpSpPr>
          <a:xfrm rot="0">
            <a:off x="6446520" y="4828032"/>
            <a:ext cx="5266944" cy="2359152"/>
            <a:chOff x="0" y="0"/>
            <a:chExt cx="7022592" cy="3145536"/>
          </a:xfrm>
        </p:grpSpPr>
        <p:sp>
          <p:nvSpPr>
            <p:cNvPr name="Freeform 52" id="52"/>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53" id="53"/>
          <p:cNvGrpSpPr/>
          <p:nvPr/>
        </p:nvGrpSpPr>
        <p:grpSpPr>
          <a:xfrm rot="0">
            <a:off x="6693408" y="5074920"/>
            <a:ext cx="630936" cy="630936"/>
            <a:chOff x="0" y="0"/>
            <a:chExt cx="841248" cy="841248"/>
          </a:xfrm>
        </p:grpSpPr>
        <p:sp>
          <p:nvSpPr>
            <p:cNvPr name="Freeform 54" id="54"/>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F9D8A">
                <a:alpha val="1961"/>
              </a:srgbClr>
            </a:solidFill>
          </p:spPr>
        </p:sp>
      </p:grpSp>
      <p:grpSp>
        <p:nvGrpSpPr>
          <p:cNvPr name="Group 55" id="55"/>
          <p:cNvGrpSpPr/>
          <p:nvPr/>
        </p:nvGrpSpPr>
        <p:grpSpPr>
          <a:xfrm rot="0">
            <a:off x="6693408" y="5074920"/>
            <a:ext cx="630936" cy="630936"/>
            <a:chOff x="0" y="0"/>
            <a:chExt cx="841248" cy="841248"/>
          </a:xfrm>
        </p:grpSpPr>
        <p:sp>
          <p:nvSpPr>
            <p:cNvPr name="Freeform 56" id="56"/>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57" id="57"/>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58" id="58"/>
          <p:cNvGrpSpPr/>
          <p:nvPr/>
        </p:nvGrpSpPr>
        <p:grpSpPr>
          <a:xfrm rot="0">
            <a:off x="7488936" y="5033772"/>
            <a:ext cx="4032504" cy="466344"/>
            <a:chOff x="0" y="0"/>
            <a:chExt cx="5376672" cy="621792"/>
          </a:xfrm>
        </p:grpSpPr>
        <p:sp>
          <p:nvSpPr>
            <p:cNvPr name="Freeform 59" id="59"/>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60" id="60"/>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Financial Impact</a:t>
              </a:r>
            </a:p>
          </p:txBody>
        </p:sp>
      </p:grpSp>
      <p:sp>
        <p:nvSpPr>
          <p:cNvPr name="TextBox 61" id="61"/>
          <p:cNvSpPr txBox="true"/>
          <p:nvPr/>
        </p:nvSpPr>
        <p:spPr>
          <a:xfrm rot="0">
            <a:off x="6693408" y="576795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Layer in average loss per complaint to connect case volume with real monetary harm.</a:t>
            </a:r>
          </a:p>
        </p:txBody>
      </p:sp>
      <p:grpSp>
        <p:nvGrpSpPr>
          <p:cNvPr name="Group 62" id="62"/>
          <p:cNvGrpSpPr/>
          <p:nvPr/>
        </p:nvGrpSpPr>
        <p:grpSpPr>
          <a:xfrm rot="0">
            <a:off x="11960352" y="4828032"/>
            <a:ext cx="5266944" cy="2359152"/>
            <a:chOff x="0" y="0"/>
            <a:chExt cx="7022592" cy="3145536"/>
          </a:xfrm>
        </p:grpSpPr>
        <p:sp>
          <p:nvSpPr>
            <p:cNvPr name="Freeform 63" id="63"/>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64" id="64"/>
          <p:cNvGrpSpPr/>
          <p:nvPr/>
        </p:nvGrpSpPr>
        <p:grpSpPr>
          <a:xfrm rot="0">
            <a:off x="12207240" y="5074920"/>
            <a:ext cx="630936" cy="630936"/>
            <a:chOff x="0" y="0"/>
            <a:chExt cx="841248" cy="841248"/>
          </a:xfrm>
        </p:grpSpPr>
        <p:sp>
          <p:nvSpPr>
            <p:cNvPr name="Freeform 65" id="6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C23B3B">
                <a:alpha val="1961"/>
              </a:srgbClr>
            </a:solidFill>
          </p:spPr>
        </p:sp>
      </p:grpSp>
      <p:grpSp>
        <p:nvGrpSpPr>
          <p:cNvPr name="Group 66" id="66"/>
          <p:cNvGrpSpPr/>
          <p:nvPr/>
        </p:nvGrpSpPr>
        <p:grpSpPr>
          <a:xfrm rot="0">
            <a:off x="12207240" y="5074920"/>
            <a:ext cx="630936" cy="630936"/>
            <a:chOff x="0" y="0"/>
            <a:chExt cx="841248" cy="841248"/>
          </a:xfrm>
        </p:grpSpPr>
        <p:sp>
          <p:nvSpPr>
            <p:cNvPr name="Freeform 67" id="6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68" id="68"/>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69" id="69"/>
          <p:cNvGrpSpPr/>
          <p:nvPr/>
        </p:nvGrpSpPr>
        <p:grpSpPr>
          <a:xfrm rot="0">
            <a:off x="13002768" y="5033772"/>
            <a:ext cx="4032504" cy="466344"/>
            <a:chOff x="0" y="0"/>
            <a:chExt cx="5376672" cy="621792"/>
          </a:xfrm>
        </p:grpSpPr>
        <p:sp>
          <p:nvSpPr>
            <p:cNvPr name="Freeform 70" id="70"/>
            <p:cNvSpPr/>
            <p:nvPr/>
          </p:nvSpPr>
          <p:spPr>
            <a:xfrm flipH="false" flipV="false" rot="0">
              <a:off x="0" y="0"/>
              <a:ext cx="5376672" cy="621792"/>
            </a:xfrm>
            <a:custGeom>
              <a:avLst/>
              <a:gdLst/>
              <a:ahLst/>
              <a:cxnLst/>
              <a:rect r="r" b="b" t="t" l="l"/>
              <a:pathLst>
                <a:path h="621792" w="5376672">
                  <a:moveTo>
                    <a:pt x="0" y="0"/>
                  </a:moveTo>
                  <a:lnTo>
                    <a:pt x="5376672" y="0"/>
                  </a:lnTo>
                  <a:lnTo>
                    <a:pt x="5376672" y="621792"/>
                  </a:lnTo>
                  <a:lnTo>
                    <a:pt x="0" y="621792"/>
                  </a:lnTo>
                  <a:close/>
                </a:path>
              </a:pathLst>
            </a:custGeom>
            <a:blipFill>
              <a:blip r:embed="rId3">
                <a:alphaModFix amt="0"/>
              </a:blip>
              <a:stretch>
                <a:fillRect l="0" t="-118488" r="0" b="-118488"/>
              </a:stretch>
            </a:blipFill>
          </p:spPr>
        </p:sp>
        <p:sp>
          <p:nvSpPr>
            <p:cNvPr name="TextBox 71" id="71"/>
            <p:cNvSpPr txBox="true"/>
            <p:nvPr/>
          </p:nvSpPr>
          <p:spPr>
            <a:xfrm>
              <a:off x="0" y="0"/>
              <a:ext cx="5376672"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Interactive Filtering</a:t>
              </a:r>
            </a:p>
          </p:txBody>
        </p:sp>
      </p:grpSp>
      <p:sp>
        <p:nvSpPr>
          <p:cNvPr name="TextBox 72" id="72"/>
          <p:cNvSpPr txBox="true"/>
          <p:nvPr/>
        </p:nvSpPr>
        <p:spPr>
          <a:xfrm rot="0">
            <a:off x="12207240" y="5767959"/>
            <a:ext cx="4773168" cy="1227201"/>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Let viewers drill by Year, State and Top-N ranking without leaving the dashboard.</a:t>
            </a:r>
          </a:p>
        </p:txBody>
      </p:sp>
      <p:sp>
        <p:nvSpPr>
          <p:cNvPr name="TextBox 73" id="73"/>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DATASET USED</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Data Sources &amp; Structure</a:t>
            </a:r>
          </a:p>
        </p:txBody>
      </p:sp>
      <p:grpSp>
        <p:nvGrpSpPr>
          <p:cNvPr name="Group 7" id="7"/>
          <p:cNvGrpSpPr/>
          <p:nvPr/>
        </p:nvGrpSpPr>
        <p:grpSpPr>
          <a:xfrm rot="0">
            <a:off x="932688" y="2221992"/>
            <a:ext cx="9738360" cy="1892808"/>
            <a:chOff x="0" y="0"/>
            <a:chExt cx="12984480" cy="2523744"/>
          </a:xfrm>
        </p:grpSpPr>
        <p:sp>
          <p:nvSpPr>
            <p:cNvPr name="Freeform 8" id="8"/>
            <p:cNvSpPr/>
            <p:nvPr/>
          </p:nvSpPr>
          <p:spPr>
            <a:xfrm flipH="false" flipV="false" rot="0">
              <a:off x="0" y="0"/>
              <a:ext cx="12984480" cy="2523744"/>
            </a:xfrm>
            <a:custGeom>
              <a:avLst/>
              <a:gdLst/>
              <a:ahLst/>
              <a:cxnLst/>
              <a:rect r="r" b="b" t="t" l="l"/>
              <a:pathLst>
                <a:path h="2523744" w="12984480">
                  <a:moveTo>
                    <a:pt x="0" y="146304"/>
                  </a:moveTo>
                  <a:cubicBezTo>
                    <a:pt x="0" y="65532"/>
                    <a:pt x="65532" y="0"/>
                    <a:pt x="146304" y="0"/>
                  </a:cubicBezTo>
                  <a:lnTo>
                    <a:pt x="12838176" y="0"/>
                  </a:lnTo>
                  <a:cubicBezTo>
                    <a:pt x="12918948" y="0"/>
                    <a:pt x="12984480" y="65532"/>
                    <a:pt x="12984480" y="146304"/>
                  </a:cubicBezTo>
                  <a:lnTo>
                    <a:pt x="12984480" y="2377440"/>
                  </a:lnTo>
                  <a:cubicBezTo>
                    <a:pt x="12984480" y="2458212"/>
                    <a:pt x="12918948" y="2523744"/>
                    <a:pt x="12838176" y="2523744"/>
                  </a:cubicBezTo>
                  <a:lnTo>
                    <a:pt x="146304" y="2523744"/>
                  </a:lnTo>
                  <a:cubicBezTo>
                    <a:pt x="65532" y="2523744"/>
                    <a:pt x="0" y="2458212"/>
                    <a:pt x="0" y="2377440"/>
                  </a:cubicBezTo>
                  <a:close/>
                </a:path>
              </a:pathLst>
            </a:custGeom>
            <a:solidFill>
              <a:srgbClr val="F4F5F7"/>
            </a:solidFill>
          </p:spPr>
        </p:sp>
      </p:grpSp>
      <p:grpSp>
        <p:nvGrpSpPr>
          <p:cNvPr name="Group 9" id="9"/>
          <p:cNvGrpSpPr/>
          <p:nvPr/>
        </p:nvGrpSpPr>
        <p:grpSpPr>
          <a:xfrm rot="0">
            <a:off x="1179576" y="2468880"/>
            <a:ext cx="630936" cy="630936"/>
            <a:chOff x="0" y="0"/>
            <a:chExt cx="841248" cy="841248"/>
          </a:xfrm>
        </p:grpSpPr>
        <p:sp>
          <p:nvSpPr>
            <p:cNvPr name="Freeform 10" id="10"/>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E8A33D">
                <a:alpha val="1961"/>
              </a:srgbClr>
            </a:solidFill>
          </p:spPr>
        </p:sp>
      </p:grpSp>
      <p:grpSp>
        <p:nvGrpSpPr>
          <p:cNvPr name="Group 11" id="11"/>
          <p:cNvGrpSpPr/>
          <p:nvPr/>
        </p:nvGrpSpPr>
        <p:grpSpPr>
          <a:xfrm rot="0">
            <a:off x="1179576" y="2468880"/>
            <a:ext cx="630936" cy="630936"/>
            <a:chOff x="0" y="0"/>
            <a:chExt cx="841248" cy="841248"/>
          </a:xfrm>
        </p:grpSpPr>
        <p:sp>
          <p:nvSpPr>
            <p:cNvPr name="Freeform 12" id="12"/>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13" id="13"/>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14" id="14"/>
          <p:cNvGrpSpPr/>
          <p:nvPr/>
        </p:nvGrpSpPr>
        <p:grpSpPr>
          <a:xfrm rot="0">
            <a:off x="1975104" y="2427732"/>
            <a:ext cx="8503920" cy="466344"/>
            <a:chOff x="0" y="0"/>
            <a:chExt cx="11338560" cy="621792"/>
          </a:xfrm>
        </p:grpSpPr>
        <p:sp>
          <p:nvSpPr>
            <p:cNvPr name="Freeform 15" id="15"/>
            <p:cNvSpPr/>
            <p:nvPr/>
          </p:nvSpPr>
          <p:spPr>
            <a:xfrm flipH="false" flipV="false" rot="0">
              <a:off x="0" y="0"/>
              <a:ext cx="11338560" cy="621792"/>
            </a:xfrm>
            <a:custGeom>
              <a:avLst/>
              <a:gdLst/>
              <a:ahLst/>
              <a:cxnLst/>
              <a:rect r="r" b="b" t="t" l="l"/>
              <a:pathLst>
                <a:path h="621792" w="11338560">
                  <a:moveTo>
                    <a:pt x="0" y="0"/>
                  </a:moveTo>
                  <a:lnTo>
                    <a:pt x="11338560" y="0"/>
                  </a:lnTo>
                  <a:lnTo>
                    <a:pt x="11338560" y="621792"/>
                  </a:lnTo>
                  <a:lnTo>
                    <a:pt x="0" y="621792"/>
                  </a:lnTo>
                  <a:close/>
                </a:path>
              </a:pathLst>
            </a:custGeom>
            <a:blipFill>
              <a:blip r:embed="rId3">
                <a:alphaModFix amt="0"/>
              </a:blip>
              <a:stretch>
                <a:fillRect l="0" t="-305315" r="0" b="-305315"/>
              </a:stretch>
            </a:blipFill>
          </p:spPr>
        </p:sp>
        <p:sp>
          <p:nvSpPr>
            <p:cNvPr name="TextBox 16" id="16"/>
            <p:cNvSpPr txBox="true"/>
            <p:nvPr/>
          </p:nvSpPr>
          <p:spPr>
            <a:xfrm>
              <a:off x="0" y="0"/>
              <a:ext cx="11338560"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National Crime Summary by State &amp; Year</a:t>
              </a:r>
            </a:p>
          </p:txBody>
        </p:sp>
      </p:grpSp>
      <p:grpSp>
        <p:nvGrpSpPr>
          <p:cNvPr name="Group 17" id="17"/>
          <p:cNvGrpSpPr/>
          <p:nvPr/>
        </p:nvGrpSpPr>
        <p:grpSpPr>
          <a:xfrm rot="0">
            <a:off x="1975104" y="2866644"/>
            <a:ext cx="3319272" cy="356616"/>
            <a:chOff x="0" y="0"/>
            <a:chExt cx="4425696" cy="475488"/>
          </a:xfrm>
        </p:grpSpPr>
        <p:sp>
          <p:nvSpPr>
            <p:cNvPr name="Freeform 18" id="18"/>
            <p:cNvSpPr/>
            <p:nvPr/>
          </p:nvSpPr>
          <p:spPr>
            <a:xfrm flipH="false" flipV="false" rot="0">
              <a:off x="0" y="0"/>
              <a:ext cx="4425696" cy="475488"/>
            </a:xfrm>
            <a:custGeom>
              <a:avLst/>
              <a:gdLst/>
              <a:ahLst/>
              <a:cxnLst/>
              <a:rect r="r" b="b" t="t" l="l"/>
              <a:pathLst>
                <a:path h="475488" w="4425696">
                  <a:moveTo>
                    <a:pt x="0" y="73152"/>
                  </a:moveTo>
                  <a:cubicBezTo>
                    <a:pt x="0" y="32766"/>
                    <a:pt x="32766" y="0"/>
                    <a:pt x="73152" y="0"/>
                  </a:cubicBezTo>
                  <a:lnTo>
                    <a:pt x="4352544" y="0"/>
                  </a:lnTo>
                  <a:cubicBezTo>
                    <a:pt x="4392930" y="0"/>
                    <a:pt x="4425696" y="32766"/>
                    <a:pt x="4425696" y="73152"/>
                  </a:cubicBezTo>
                  <a:lnTo>
                    <a:pt x="4425696" y="402336"/>
                  </a:lnTo>
                  <a:cubicBezTo>
                    <a:pt x="4425696" y="442722"/>
                    <a:pt x="4392930" y="475488"/>
                    <a:pt x="4352544" y="475488"/>
                  </a:cubicBezTo>
                  <a:lnTo>
                    <a:pt x="73152" y="475488"/>
                  </a:lnTo>
                  <a:cubicBezTo>
                    <a:pt x="32766" y="475488"/>
                    <a:pt x="0" y="442722"/>
                    <a:pt x="0" y="402336"/>
                  </a:cubicBezTo>
                  <a:close/>
                </a:path>
              </a:pathLst>
            </a:custGeom>
            <a:solidFill>
              <a:srgbClr val="E8A33D">
                <a:alpha val="784"/>
              </a:srgbClr>
            </a:solidFill>
          </p:spPr>
        </p:sp>
      </p:grpSp>
      <p:grpSp>
        <p:nvGrpSpPr>
          <p:cNvPr name="Group 19" id="19"/>
          <p:cNvGrpSpPr/>
          <p:nvPr/>
        </p:nvGrpSpPr>
        <p:grpSpPr>
          <a:xfrm rot="0">
            <a:off x="2057400" y="2866644"/>
            <a:ext cx="8366760" cy="356616"/>
            <a:chOff x="0" y="0"/>
            <a:chExt cx="11155680" cy="475488"/>
          </a:xfrm>
        </p:grpSpPr>
        <p:sp>
          <p:nvSpPr>
            <p:cNvPr name="Freeform 20" id="20"/>
            <p:cNvSpPr/>
            <p:nvPr/>
          </p:nvSpPr>
          <p:spPr>
            <a:xfrm flipH="false" flipV="false" rot="0">
              <a:off x="0" y="0"/>
              <a:ext cx="11155680" cy="475488"/>
            </a:xfrm>
            <a:custGeom>
              <a:avLst/>
              <a:gdLst/>
              <a:ahLst/>
              <a:cxnLst/>
              <a:rect r="r" b="b" t="t" l="l"/>
              <a:pathLst>
                <a:path h="475488" w="11155680">
                  <a:moveTo>
                    <a:pt x="0" y="0"/>
                  </a:moveTo>
                  <a:lnTo>
                    <a:pt x="11155680" y="0"/>
                  </a:lnTo>
                  <a:lnTo>
                    <a:pt x="11155680" y="475488"/>
                  </a:lnTo>
                  <a:lnTo>
                    <a:pt x="0" y="475488"/>
                  </a:lnTo>
                  <a:close/>
                </a:path>
              </a:pathLst>
            </a:custGeom>
            <a:blipFill>
              <a:blip r:embed="rId3">
                <a:alphaModFix amt="0"/>
              </a:blip>
              <a:stretch>
                <a:fillRect l="0" t="-407148" r="0" b="-407148"/>
              </a:stretch>
            </a:blipFill>
          </p:spPr>
        </p:sp>
        <p:sp>
          <p:nvSpPr>
            <p:cNvPr name="TextBox 21" id="21"/>
            <p:cNvSpPr txBox="true"/>
            <p:nvPr/>
          </p:nvSpPr>
          <p:spPr>
            <a:xfrm>
              <a:off x="0" y="-9525"/>
              <a:ext cx="11155680" cy="485013"/>
            </a:xfrm>
            <a:prstGeom prst="rect">
              <a:avLst/>
            </a:prstGeom>
          </p:spPr>
          <p:txBody>
            <a:bodyPr anchor="ctr" rtlCol="false" tIns="0" lIns="0" bIns="0" rIns="0"/>
            <a:lstStyle/>
            <a:p>
              <a:pPr algn="l">
                <a:lnSpc>
                  <a:spcPts val="1620"/>
                </a:lnSpc>
              </a:pPr>
              <a:r>
                <a:rPr lang="en-US" sz="1350">
                  <a:solidFill>
                    <a:srgbClr val="1B2A4A"/>
                  </a:solidFill>
                  <a:latin typeface="Courier New"/>
                  <a:ea typeface="Courier New"/>
                  <a:cs typeface="Courier New"/>
                  <a:sym typeface="Courier New"/>
                </a:rPr>
                <a:t>1_crime_state_year_summary.csv</a:t>
              </a:r>
            </a:p>
          </p:txBody>
        </p:sp>
      </p:grpSp>
      <p:sp>
        <p:nvSpPr>
          <p:cNvPr name="TextBox 22" id="22"/>
          <p:cNvSpPr txBox="true"/>
          <p:nvPr/>
        </p:nvSpPr>
        <p:spPr>
          <a:xfrm rot="0">
            <a:off x="1179576" y="3353943"/>
            <a:ext cx="9244584" cy="568833"/>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state_ut, year, domain, crime_head, crime_category, cases — the core national + state-level crime table.</a:t>
            </a:r>
          </a:p>
        </p:txBody>
      </p:sp>
      <p:grpSp>
        <p:nvGrpSpPr>
          <p:cNvPr name="Group 23" id="23"/>
          <p:cNvGrpSpPr/>
          <p:nvPr/>
        </p:nvGrpSpPr>
        <p:grpSpPr>
          <a:xfrm rot="0">
            <a:off x="932688" y="4347972"/>
            <a:ext cx="9738360" cy="1892808"/>
            <a:chOff x="0" y="0"/>
            <a:chExt cx="12984480" cy="2523744"/>
          </a:xfrm>
        </p:grpSpPr>
        <p:sp>
          <p:nvSpPr>
            <p:cNvPr name="Freeform 24" id="24"/>
            <p:cNvSpPr/>
            <p:nvPr/>
          </p:nvSpPr>
          <p:spPr>
            <a:xfrm flipH="false" flipV="false" rot="0">
              <a:off x="0" y="0"/>
              <a:ext cx="12984480" cy="2523744"/>
            </a:xfrm>
            <a:custGeom>
              <a:avLst/>
              <a:gdLst/>
              <a:ahLst/>
              <a:cxnLst/>
              <a:rect r="r" b="b" t="t" l="l"/>
              <a:pathLst>
                <a:path h="2523744" w="12984480">
                  <a:moveTo>
                    <a:pt x="0" y="146304"/>
                  </a:moveTo>
                  <a:cubicBezTo>
                    <a:pt x="0" y="65532"/>
                    <a:pt x="65532" y="0"/>
                    <a:pt x="146304" y="0"/>
                  </a:cubicBezTo>
                  <a:lnTo>
                    <a:pt x="12838176" y="0"/>
                  </a:lnTo>
                  <a:cubicBezTo>
                    <a:pt x="12918948" y="0"/>
                    <a:pt x="12984480" y="65532"/>
                    <a:pt x="12984480" y="146304"/>
                  </a:cubicBezTo>
                  <a:lnTo>
                    <a:pt x="12984480" y="2377440"/>
                  </a:lnTo>
                  <a:cubicBezTo>
                    <a:pt x="12984480" y="2458212"/>
                    <a:pt x="12918948" y="2523744"/>
                    <a:pt x="12838176" y="2523744"/>
                  </a:cubicBezTo>
                  <a:lnTo>
                    <a:pt x="146304" y="2523744"/>
                  </a:lnTo>
                  <a:cubicBezTo>
                    <a:pt x="65532" y="2523744"/>
                    <a:pt x="0" y="2458212"/>
                    <a:pt x="0" y="2377440"/>
                  </a:cubicBezTo>
                  <a:close/>
                </a:path>
              </a:pathLst>
            </a:custGeom>
            <a:solidFill>
              <a:srgbClr val="F4F5F7"/>
            </a:solidFill>
          </p:spPr>
        </p:sp>
      </p:grpSp>
      <p:grpSp>
        <p:nvGrpSpPr>
          <p:cNvPr name="Group 25" id="25"/>
          <p:cNvGrpSpPr/>
          <p:nvPr/>
        </p:nvGrpSpPr>
        <p:grpSpPr>
          <a:xfrm rot="0">
            <a:off x="1179576" y="4594860"/>
            <a:ext cx="630936" cy="630936"/>
            <a:chOff x="0" y="0"/>
            <a:chExt cx="841248" cy="841248"/>
          </a:xfrm>
        </p:grpSpPr>
        <p:sp>
          <p:nvSpPr>
            <p:cNvPr name="Freeform 26" id="26"/>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1F9D8A">
                <a:alpha val="1961"/>
              </a:srgbClr>
            </a:solidFill>
          </p:spPr>
        </p:sp>
      </p:grpSp>
      <p:grpSp>
        <p:nvGrpSpPr>
          <p:cNvPr name="Group 27" id="27"/>
          <p:cNvGrpSpPr/>
          <p:nvPr/>
        </p:nvGrpSpPr>
        <p:grpSpPr>
          <a:xfrm rot="0">
            <a:off x="1179576" y="4594860"/>
            <a:ext cx="630936" cy="630936"/>
            <a:chOff x="0" y="0"/>
            <a:chExt cx="841248" cy="841248"/>
          </a:xfrm>
        </p:grpSpPr>
        <p:sp>
          <p:nvSpPr>
            <p:cNvPr name="Freeform 28" id="28"/>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29" id="29"/>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30" id="30"/>
          <p:cNvGrpSpPr/>
          <p:nvPr/>
        </p:nvGrpSpPr>
        <p:grpSpPr>
          <a:xfrm rot="0">
            <a:off x="1975104" y="4553712"/>
            <a:ext cx="8503920" cy="466344"/>
            <a:chOff x="0" y="0"/>
            <a:chExt cx="11338560" cy="621792"/>
          </a:xfrm>
        </p:grpSpPr>
        <p:sp>
          <p:nvSpPr>
            <p:cNvPr name="Freeform 31" id="31"/>
            <p:cNvSpPr/>
            <p:nvPr/>
          </p:nvSpPr>
          <p:spPr>
            <a:xfrm flipH="false" flipV="false" rot="0">
              <a:off x="0" y="0"/>
              <a:ext cx="11338560" cy="621792"/>
            </a:xfrm>
            <a:custGeom>
              <a:avLst/>
              <a:gdLst/>
              <a:ahLst/>
              <a:cxnLst/>
              <a:rect r="r" b="b" t="t" l="l"/>
              <a:pathLst>
                <a:path h="621792" w="11338560">
                  <a:moveTo>
                    <a:pt x="0" y="0"/>
                  </a:moveTo>
                  <a:lnTo>
                    <a:pt x="11338560" y="0"/>
                  </a:lnTo>
                  <a:lnTo>
                    <a:pt x="11338560" y="621792"/>
                  </a:lnTo>
                  <a:lnTo>
                    <a:pt x="0" y="621792"/>
                  </a:lnTo>
                  <a:close/>
                </a:path>
              </a:pathLst>
            </a:custGeom>
            <a:blipFill>
              <a:blip r:embed="rId3">
                <a:alphaModFix amt="0"/>
              </a:blip>
              <a:stretch>
                <a:fillRect l="0" t="-305315" r="0" b="-305315"/>
              </a:stretch>
            </a:blipFill>
          </p:spPr>
        </p:sp>
        <p:sp>
          <p:nvSpPr>
            <p:cNvPr name="TextBox 32" id="32"/>
            <p:cNvSpPr txBox="true"/>
            <p:nvPr/>
          </p:nvSpPr>
          <p:spPr>
            <a:xfrm>
              <a:off x="0" y="0"/>
              <a:ext cx="11338560"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National Cyber-Scam Complaints (I4C)</a:t>
              </a:r>
            </a:p>
          </p:txBody>
        </p:sp>
      </p:grpSp>
      <p:grpSp>
        <p:nvGrpSpPr>
          <p:cNvPr name="Group 33" id="33"/>
          <p:cNvGrpSpPr/>
          <p:nvPr/>
        </p:nvGrpSpPr>
        <p:grpSpPr>
          <a:xfrm rot="0">
            <a:off x="1975104" y="4992624"/>
            <a:ext cx="3725266" cy="356616"/>
            <a:chOff x="0" y="0"/>
            <a:chExt cx="4967021" cy="475488"/>
          </a:xfrm>
        </p:grpSpPr>
        <p:sp>
          <p:nvSpPr>
            <p:cNvPr name="Freeform 34" id="34"/>
            <p:cNvSpPr/>
            <p:nvPr/>
          </p:nvSpPr>
          <p:spPr>
            <a:xfrm flipH="false" flipV="false" rot="0">
              <a:off x="0" y="0"/>
              <a:ext cx="4966970" cy="475488"/>
            </a:xfrm>
            <a:custGeom>
              <a:avLst/>
              <a:gdLst/>
              <a:ahLst/>
              <a:cxnLst/>
              <a:rect r="r" b="b" t="t" l="l"/>
              <a:pathLst>
                <a:path h="475488" w="4966970">
                  <a:moveTo>
                    <a:pt x="0" y="73152"/>
                  </a:moveTo>
                  <a:cubicBezTo>
                    <a:pt x="0" y="32766"/>
                    <a:pt x="32766" y="0"/>
                    <a:pt x="73152" y="0"/>
                  </a:cubicBezTo>
                  <a:lnTo>
                    <a:pt x="4893818" y="0"/>
                  </a:lnTo>
                  <a:cubicBezTo>
                    <a:pt x="4934204" y="0"/>
                    <a:pt x="4966970" y="32766"/>
                    <a:pt x="4966970" y="73152"/>
                  </a:cubicBezTo>
                  <a:lnTo>
                    <a:pt x="4966970" y="402336"/>
                  </a:lnTo>
                  <a:cubicBezTo>
                    <a:pt x="4966970" y="442722"/>
                    <a:pt x="4934204" y="475488"/>
                    <a:pt x="4893818" y="475488"/>
                  </a:cubicBezTo>
                  <a:lnTo>
                    <a:pt x="73152" y="475488"/>
                  </a:lnTo>
                  <a:cubicBezTo>
                    <a:pt x="32766" y="475488"/>
                    <a:pt x="0" y="442722"/>
                    <a:pt x="0" y="402336"/>
                  </a:cubicBezTo>
                  <a:close/>
                </a:path>
              </a:pathLst>
            </a:custGeom>
            <a:solidFill>
              <a:srgbClr val="1F9D8A">
                <a:alpha val="784"/>
              </a:srgbClr>
            </a:solidFill>
          </p:spPr>
        </p:sp>
      </p:grpSp>
      <p:grpSp>
        <p:nvGrpSpPr>
          <p:cNvPr name="Group 35" id="35"/>
          <p:cNvGrpSpPr/>
          <p:nvPr/>
        </p:nvGrpSpPr>
        <p:grpSpPr>
          <a:xfrm rot="0">
            <a:off x="2043684" y="4992624"/>
            <a:ext cx="8366760" cy="356616"/>
            <a:chOff x="0" y="0"/>
            <a:chExt cx="11155680" cy="475488"/>
          </a:xfrm>
        </p:grpSpPr>
        <p:sp>
          <p:nvSpPr>
            <p:cNvPr name="Freeform 36" id="36"/>
            <p:cNvSpPr/>
            <p:nvPr/>
          </p:nvSpPr>
          <p:spPr>
            <a:xfrm flipH="false" flipV="false" rot="0">
              <a:off x="0" y="0"/>
              <a:ext cx="11155680" cy="475488"/>
            </a:xfrm>
            <a:custGeom>
              <a:avLst/>
              <a:gdLst/>
              <a:ahLst/>
              <a:cxnLst/>
              <a:rect r="r" b="b" t="t" l="l"/>
              <a:pathLst>
                <a:path h="475488" w="11155680">
                  <a:moveTo>
                    <a:pt x="0" y="0"/>
                  </a:moveTo>
                  <a:lnTo>
                    <a:pt x="11155680" y="0"/>
                  </a:lnTo>
                  <a:lnTo>
                    <a:pt x="11155680" y="475488"/>
                  </a:lnTo>
                  <a:lnTo>
                    <a:pt x="0" y="475488"/>
                  </a:lnTo>
                  <a:close/>
                </a:path>
              </a:pathLst>
            </a:custGeom>
            <a:blipFill>
              <a:blip r:embed="rId3">
                <a:alphaModFix amt="0"/>
              </a:blip>
              <a:stretch>
                <a:fillRect l="0" t="-407148" r="0" b="-407148"/>
              </a:stretch>
            </a:blipFill>
          </p:spPr>
        </p:sp>
        <p:sp>
          <p:nvSpPr>
            <p:cNvPr name="TextBox 37" id="37"/>
            <p:cNvSpPr txBox="true"/>
            <p:nvPr/>
          </p:nvSpPr>
          <p:spPr>
            <a:xfrm>
              <a:off x="0" y="-9525"/>
              <a:ext cx="11155680" cy="485013"/>
            </a:xfrm>
            <a:prstGeom prst="rect">
              <a:avLst/>
            </a:prstGeom>
          </p:spPr>
          <p:txBody>
            <a:bodyPr anchor="ctr" rtlCol="false" tIns="0" lIns="0" bIns="0" rIns="0"/>
            <a:lstStyle/>
            <a:p>
              <a:pPr algn="l">
                <a:lnSpc>
                  <a:spcPts val="1620"/>
                </a:lnSpc>
              </a:pPr>
              <a:r>
                <a:rPr lang="en-US" sz="1350">
                  <a:solidFill>
                    <a:srgbClr val="1B2A4A"/>
                  </a:solidFill>
                  <a:latin typeface="Courier New"/>
                  <a:ea typeface="Courier New"/>
                  <a:cs typeface="Courier New"/>
                  <a:sym typeface="Courier New"/>
                </a:rPr>
                <a:t>6_scam_national_complaints_I4C.csv</a:t>
              </a:r>
            </a:p>
          </p:txBody>
        </p:sp>
      </p:grpSp>
      <p:sp>
        <p:nvSpPr>
          <p:cNvPr name="TextBox 38" id="38"/>
          <p:cNvSpPr txBox="true"/>
          <p:nvPr/>
        </p:nvSpPr>
        <p:spPr>
          <a:xfrm rot="0">
            <a:off x="1179576" y="5479923"/>
            <a:ext cx="9244584" cy="568833"/>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period, scope, complaints, amount_lost_rs_crore, avg_loss_per_complaint_rs — national cyber-scam financial data.</a:t>
            </a:r>
          </a:p>
        </p:txBody>
      </p:sp>
      <p:grpSp>
        <p:nvGrpSpPr>
          <p:cNvPr name="Group 39" id="39"/>
          <p:cNvGrpSpPr/>
          <p:nvPr/>
        </p:nvGrpSpPr>
        <p:grpSpPr>
          <a:xfrm rot="0">
            <a:off x="932688" y="6473952"/>
            <a:ext cx="9738360" cy="1892808"/>
            <a:chOff x="0" y="0"/>
            <a:chExt cx="12984480" cy="2523744"/>
          </a:xfrm>
        </p:grpSpPr>
        <p:sp>
          <p:nvSpPr>
            <p:cNvPr name="Freeform 40" id="40"/>
            <p:cNvSpPr/>
            <p:nvPr/>
          </p:nvSpPr>
          <p:spPr>
            <a:xfrm flipH="false" flipV="false" rot="0">
              <a:off x="0" y="0"/>
              <a:ext cx="12984480" cy="2523744"/>
            </a:xfrm>
            <a:custGeom>
              <a:avLst/>
              <a:gdLst/>
              <a:ahLst/>
              <a:cxnLst/>
              <a:rect r="r" b="b" t="t" l="l"/>
              <a:pathLst>
                <a:path h="2523744" w="12984480">
                  <a:moveTo>
                    <a:pt x="0" y="146304"/>
                  </a:moveTo>
                  <a:cubicBezTo>
                    <a:pt x="0" y="65532"/>
                    <a:pt x="65532" y="0"/>
                    <a:pt x="146304" y="0"/>
                  </a:cubicBezTo>
                  <a:lnTo>
                    <a:pt x="12838176" y="0"/>
                  </a:lnTo>
                  <a:cubicBezTo>
                    <a:pt x="12918948" y="0"/>
                    <a:pt x="12984480" y="65532"/>
                    <a:pt x="12984480" y="146304"/>
                  </a:cubicBezTo>
                  <a:lnTo>
                    <a:pt x="12984480" y="2377440"/>
                  </a:lnTo>
                  <a:cubicBezTo>
                    <a:pt x="12984480" y="2458212"/>
                    <a:pt x="12918948" y="2523744"/>
                    <a:pt x="12838176" y="2523744"/>
                  </a:cubicBezTo>
                  <a:lnTo>
                    <a:pt x="146304" y="2523744"/>
                  </a:lnTo>
                  <a:cubicBezTo>
                    <a:pt x="65532" y="2523744"/>
                    <a:pt x="0" y="2458212"/>
                    <a:pt x="0" y="2377440"/>
                  </a:cubicBezTo>
                  <a:close/>
                </a:path>
              </a:pathLst>
            </a:custGeom>
            <a:solidFill>
              <a:srgbClr val="F4F5F7"/>
            </a:solidFill>
          </p:spPr>
        </p:sp>
      </p:grpSp>
      <p:grpSp>
        <p:nvGrpSpPr>
          <p:cNvPr name="Group 41" id="41"/>
          <p:cNvGrpSpPr/>
          <p:nvPr/>
        </p:nvGrpSpPr>
        <p:grpSpPr>
          <a:xfrm rot="0">
            <a:off x="1179576" y="6720840"/>
            <a:ext cx="630936" cy="630936"/>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C23B3B">
                <a:alpha val="1961"/>
              </a:srgbClr>
            </a:solidFill>
          </p:spPr>
        </p:sp>
      </p:grpSp>
      <p:grpSp>
        <p:nvGrpSpPr>
          <p:cNvPr name="Group 43" id="43"/>
          <p:cNvGrpSpPr/>
          <p:nvPr/>
        </p:nvGrpSpPr>
        <p:grpSpPr>
          <a:xfrm rot="0">
            <a:off x="1179576" y="6720840"/>
            <a:ext cx="630936" cy="630936"/>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3">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3240"/>
                </a:lnSpc>
              </a:pPr>
              <a:r>
                <a:rPr lang="en-US" sz="2700">
                  <a:solidFill>
                    <a:srgbClr val="000000"/>
                  </a:solidFill>
                  <a:latin typeface="Calibri (MS)"/>
                  <a:ea typeface="Calibri (MS)"/>
                  <a:cs typeface="Calibri (MS)"/>
                  <a:sym typeface="Calibri (MS)"/>
                </a:rPr>
                <a:t>🗂️</a:t>
              </a:r>
            </a:p>
          </p:txBody>
        </p:sp>
      </p:grpSp>
      <p:grpSp>
        <p:nvGrpSpPr>
          <p:cNvPr name="Group 46" id="46"/>
          <p:cNvGrpSpPr/>
          <p:nvPr/>
        </p:nvGrpSpPr>
        <p:grpSpPr>
          <a:xfrm rot="0">
            <a:off x="1975104" y="6679692"/>
            <a:ext cx="8503920" cy="466344"/>
            <a:chOff x="0" y="0"/>
            <a:chExt cx="11338560" cy="621792"/>
          </a:xfrm>
        </p:grpSpPr>
        <p:sp>
          <p:nvSpPr>
            <p:cNvPr name="Freeform 47" id="47"/>
            <p:cNvSpPr/>
            <p:nvPr/>
          </p:nvSpPr>
          <p:spPr>
            <a:xfrm flipH="false" flipV="false" rot="0">
              <a:off x="0" y="0"/>
              <a:ext cx="11338560" cy="621792"/>
            </a:xfrm>
            <a:custGeom>
              <a:avLst/>
              <a:gdLst/>
              <a:ahLst/>
              <a:cxnLst/>
              <a:rect r="r" b="b" t="t" l="l"/>
              <a:pathLst>
                <a:path h="621792" w="11338560">
                  <a:moveTo>
                    <a:pt x="0" y="0"/>
                  </a:moveTo>
                  <a:lnTo>
                    <a:pt x="11338560" y="0"/>
                  </a:lnTo>
                  <a:lnTo>
                    <a:pt x="11338560" y="621792"/>
                  </a:lnTo>
                  <a:lnTo>
                    <a:pt x="0" y="621792"/>
                  </a:lnTo>
                  <a:close/>
                </a:path>
              </a:pathLst>
            </a:custGeom>
            <a:blipFill>
              <a:blip r:embed="rId3">
                <a:alphaModFix amt="0"/>
              </a:blip>
              <a:stretch>
                <a:fillRect l="0" t="-305315" r="0" b="-305315"/>
              </a:stretch>
            </a:blipFill>
          </p:spPr>
        </p:sp>
        <p:sp>
          <p:nvSpPr>
            <p:cNvPr name="TextBox 48" id="48"/>
            <p:cNvSpPr txBox="true"/>
            <p:nvPr/>
          </p:nvSpPr>
          <p:spPr>
            <a:xfrm>
              <a:off x="0" y="0"/>
              <a:ext cx="11338560" cy="621792"/>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2024 Fraud Subtype Breakdown</a:t>
              </a:r>
            </a:p>
          </p:txBody>
        </p:sp>
      </p:grpSp>
      <p:grpSp>
        <p:nvGrpSpPr>
          <p:cNvPr name="Group 49" id="49"/>
          <p:cNvGrpSpPr/>
          <p:nvPr/>
        </p:nvGrpSpPr>
        <p:grpSpPr>
          <a:xfrm rot="0">
            <a:off x="1975104" y="7118604"/>
            <a:ext cx="2811780" cy="356616"/>
            <a:chOff x="0" y="0"/>
            <a:chExt cx="3749040" cy="475488"/>
          </a:xfrm>
        </p:grpSpPr>
        <p:sp>
          <p:nvSpPr>
            <p:cNvPr name="Freeform 50" id="50"/>
            <p:cNvSpPr/>
            <p:nvPr/>
          </p:nvSpPr>
          <p:spPr>
            <a:xfrm flipH="false" flipV="false" rot="0">
              <a:off x="0" y="0"/>
              <a:ext cx="3749040" cy="475488"/>
            </a:xfrm>
            <a:custGeom>
              <a:avLst/>
              <a:gdLst/>
              <a:ahLst/>
              <a:cxnLst/>
              <a:rect r="r" b="b" t="t" l="l"/>
              <a:pathLst>
                <a:path h="475488" w="3749040">
                  <a:moveTo>
                    <a:pt x="0" y="73152"/>
                  </a:moveTo>
                  <a:cubicBezTo>
                    <a:pt x="0" y="32766"/>
                    <a:pt x="32766" y="0"/>
                    <a:pt x="73152" y="0"/>
                  </a:cubicBezTo>
                  <a:lnTo>
                    <a:pt x="3675888" y="0"/>
                  </a:lnTo>
                  <a:cubicBezTo>
                    <a:pt x="3716274" y="0"/>
                    <a:pt x="3749040" y="32766"/>
                    <a:pt x="3749040" y="73152"/>
                  </a:cubicBezTo>
                  <a:lnTo>
                    <a:pt x="3749040" y="402336"/>
                  </a:lnTo>
                  <a:cubicBezTo>
                    <a:pt x="3749040" y="442722"/>
                    <a:pt x="3716274" y="475488"/>
                    <a:pt x="3675888" y="475488"/>
                  </a:cubicBezTo>
                  <a:lnTo>
                    <a:pt x="73152" y="475488"/>
                  </a:lnTo>
                  <a:cubicBezTo>
                    <a:pt x="32766" y="475488"/>
                    <a:pt x="0" y="442722"/>
                    <a:pt x="0" y="402336"/>
                  </a:cubicBezTo>
                  <a:close/>
                </a:path>
              </a:pathLst>
            </a:custGeom>
            <a:solidFill>
              <a:srgbClr val="C23B3B">
                <a:alpha val="784"/>
              </a:srgbClr>
            </a:solidFill>
          </p:spPr>
        </p:sp>
      </p:grpSp>
      <p:grpSp>
        <p:nvGrpSpPr>
          <p:cNvPr name="Group 51" id="51"/>
          <p:cNvGrpSpPr/>
          <p:nvPr/>
        </p:nvGrpSpPr>
        <p:grpSpPr>
          <a:xfrm rot="0">
            <a:off x="2057400" y="7118604"/>
            <a:ext cx="8366760" cy="356616"/>
            <a:chOff x="0" y="0"/>
            <a:chExt cx="11155680" cy="475488"/>
          </a:xfrm>
        </p:grpSpPr>
        <p:sp>
          <p:nvSpPr>
            <p:cNvPr name="Freeform 52" id="52"/>
            <p:cNvSpPr/>
            <p:nvPr/>
          </p:nvSpPr>
          <p:spPr>
            <a:xfrm flipH="false" flipV="false" rot="0">
              <a:off x="0" y="0"/>
              <a:ext cx="11155680" cy="475488"/>
            </a:xfrm>
            <a:custGeom>
              <a:avLst/>
              <a:gdLst/>
              <a:ahLst/>
              <a:cxnLst/>
              <a:rect r="r" b="b" t="t" l="l"/>
              <a:pathLst>
                <a:path h="475488" w="11155680">
                  <a:moveTo>
                    <a:pt x="0" y="0"/>
                  </a:moveTo>
                  <a:lnTo>
                    <a:pt x="11155680" y="0"/>
                  </a:lnTo>
                  <a:lnTo>
                    <a:pt x="11155680" y="475488"/>
                  </a:lnTo>
                  <a:lnTo>
                    <a:pt x="0" y="475488"/>
                  </a:lnTo>
                  <a:close/>
                </a:path>
              </a:pathLst>
            </a:custGeom>
            <a:blipFill>
              <a:blip r:embed="rId3">
                <a:alphaModFix amt="0"/>
              </a:blip>
              <a:stretch>
                <a:fillRect l="0" t="-407148" r="0" b="-407148"/>
              </a:stretch>
            </a:blipFill>
          </p:spPr>
        </p:sp>
        <p:sp>
          <p:nvSpPr>
            <p:cNvPr name="TextBox 53" id="53"/>
            <p:cNvSpPr txBox="true"/>
            <p:nvPr/>
          </p:nvSpPr>
          <p:spPr>
            <a:xfrm>
              <a:off x="0" y="-9525"/>
              <a:ext cx="11155680" cy="485013"/>
            </a:xfrm>
            <a:prstGeom prst="rect">
              <a:avLst/>
            </a:prstGeom>
          </p:spPr>
          <p:txBody>
            <a:bodyPr anchor="ctr" rtlCol="false" tIns="0" lIns="0" bIns="0" rIns="0"/>
            <a:lstStyle/>
            <a:p>
              <a:pPr algn="l">
                <a:lnSpc>
                  <a:spcPts val="1620"/>
                </a:lnSpc>
              </a:pPr>
              <a:r>
                <a:rPr lang="en-US" sz="1350">
                  <a:solidFill>
                    <a:srgbClr val="1B2A4A"/>
                  </a:solidFill>
                  <a:latin typeface="Courier New"/>
                  <a:ea typeface="Courier New"/>
                  <a:cs typeface="Courier New"/>
                  <a:sym typeface="Courier New"/>
                </a:rPr>
                <a:t>7_fraud_subtypes_2024.csv</a:t>
              </a:r>
            </a:p>
          </p:txBody>
        </p:sp>
      </p:grpSp>
      <p:sp>
        <p:nvSpPr>
          <p:cNvPr name="TextBox 54" id="54"/>
          <p:cNvSpPr txBox="true"/>
          <p:nvPr/>
        </p:nvSpPr>
        <p:spPr>
          <a:xfrm rot="0">
            <a:off x="1179576" y="7605903"/>
            <a:ext cx="9244584" cy="568833"/>
          </a:xfrm>
          <a:prstGeom prst="rect">
            <a:avLst/>
          </a:prstGeom>
        </p:spPr>
        <p:txBody>
          <a:bodyPr anchor="t" rtlCol="false" tIns="0" lIns="0" bIns="0" rIns="0">
            <a:spAutoFit/>
          </a:bodyPr>
          <a:lstStyle/>
          <a:p>
            <a:pPr algn="l">
              <a:lnSpc>
                <a:spcPts val="2116"/>
              </a:lnSpc>
            </a:pPr>
            <a:r>
              <a:rPr lang="en-US" sz="1575">
                <a:solidFill>
                  <a:srgbClr val="4A4A52"/>
                </a:solidFill>
                <a:latin typeface="Calibri (MS)"/>
                <a:ea typeface="Calibri (MS)"/>
                <a:cs typeface="Calibri (MS)"/>
                <a:sym typeface="Calibri (MS)"/>
              </a:rPr>
              <a:t>fraud_category_2024, cases — a single-year (2024 only) fraud subtype breakdown, no historical range.</a:t>
            </a:r>
          </a:p>
        </p:txBody>
      </p:sp>
      <p:grpSp>
        <p:nvGrpSpPr>
          <p:cNvPr name="Group 55" id="55"/>
          <p:cNvGrpSpPr/>
          <p:nvPr/>
        </p:nvGrpSpPr>
        <p:grpSpPr>
          <a:xfrm rot="0">
            <a:off x="11109960" y="2221992"/>
            <a:ext cx="6240780" cy="1371600"/>
            <a:chOff x="0" y="0"/>
            <a:chExt cx="8321040" cy="1828800"/>
          </a:xfrm>
        </p:grpSpPr>
        <p:sp>
          <p:nvSpPr>
            <p:cNvPr name="Freeform 56" id="56"/>
            <p:cNvSpPr/>
            <p:nvPr/>
          </p:nvSpPr>
          <p:spPr>
            <a:xfrm flipH="false" flipV="false" rot="0">
              <a:off x="0" y="0"/>
              <a:ext cx="8321040" cy="1828800"/>
            </a:xfrm>
            <a:custGeom>
              <a:avLst/>
              <a:gdLst/>
              <a:ahLst/>
              <a:cxnLst/>
              <a:rect r="r" b="b" t="t" l="l"/>
              <a:pathLst>
                <a:path h="1828800" w="8321040">
                  <a:moveTo>
                    <a:pt x="0" y="146304"/>
                  </a:moveTo>
                  <a:cubicBezTo>
                    <a:pt x="0" y="65532"/>
                    <a:pt x="65532" y="0"/>
                    <a:pt x="146304" y="0"/>
                  </a:cubicBezTo>
                  <a:lnTo>
                    <a:pt x="8174736" y="0"/>
                  </a:lnTo>
                  <a:cubicBezTo>
                    <a:pt x="8255508" y="0"/>
                    <a:pt x="8321040" y="65532"/>
                    <a:pt x="8321040" y="146304"/>
                  </a:cubicBezTo>
                  <a:lnTo>
                    <a:pt x="8321040" y="1682496"/>
                  </a:lnTo>
                  <a:cubicBezTo>
                    <a:pt x="8321040" y="1763268"/>
                    <a:pt x="8255508" y="1828800"/>
                    <a:pt x="8174736" y="1828800"/>
                  </a:cubicBezTo>
                  <a:lnTo>
                    <a:pt x="146304" y="1828800"/>
                  </a:lnTo>
                  <a:cubicBezTo>
                    <a:pt x="65532" y="1828800"/>
                    <a:pt x="0" y="1763268"/>
                    <a:pt x="0" y="1682496"/>
                  </a:cubicBezTo>
                  <a:close/>
                </a:path>
              </a:pathLst>
            </a:custGeom>
            <a:solidFill>
              <a:srgbClr val="F4F5F7"/>
            </a:solidFill>
          </p:spPr>
        </p:sp>
      </p:grpSp>
      <p:grpSp>
        <p:nvGrpSpPr>
          <p:cNvPr name="Group 57" id="57"/>
          <p:cNvGrpSpPr/>
          <p:nvPr/>
        </p:nvGrpSpPr>
        <p:grpSpPr>
          <a:xfrm rot="0">
            <a:off x="11274552" y="2386584"/>
            <a:ext cx="5911596" cy="754380"/>
            <a:chOff x="0" y="0"/>
            <a:chExt cx="7882128" cy="1005840"/>
          </a:xfrm>
        </p:grpSpPr>
        <p:sp>
          <p:nvSpPr>
            <p:cNvPr name="Freeform 58" id="58"/>
            <p:cNvSpPr/>
            <p:nvPr/>
          </p:nvSpPr>
          <p:spPr>
            <a:xfrm flipH="false" flipV="false" rot="0">
              <a:off x="0" y="0"/>
              <a:ext cx="7882128" cy="1005840"/>
            </a:xfrm>
            <a:custGeom>
              <a:avLst/>
              <a:gdLst/>
              <a:ahLst/>
              <a:cxnLst/>
              <a:rect r="r" b="b" t="t" l="l"/>
              <a:pathLst>
                <a:path h="1005840" w="7882128">
                  <a:moveTo>
                    <a:pt x="0" y="0"/>
                  </a:moveTo>
                  <a:lnTo>
                    <a:pt x="7882128" y="0"/>
                  </a:lnTo>
                  <a:lnTo>
                    <a:pt x="7882128" y="1005840"/>
                  </a:lnTo>
                  <a:lnTo>
                    <a:pt x="0" y="1005840"/>
                  </a:lnTo>
                  <a:close/>
                </a:path>
              </a:pathLst>
            </a:custGeom>
            <a:blipFill>
              <a:blip r:embed="rId3">
                <a:alphaModFix amt="0"/>
              </a:blip>
              <a:stretch>
                <a:fillRect l="0" t="-102691" r="0" b="-102691"/>
              </a:stretch>
            </a:blipFill>
          </p:spPr>
        </p:sp>
        <p:sp>
          <p:nvSpPr>
            <p:cNvPr name="TextBox 59" id="59"/>
            <p:cNvSpPr txBox="true"/>
            <p:nvPr/>
          </p:nvSpPr>
          <p:spPr>
            <a:xfrm>
              <a:off x="0" y="0"/>
              <a:ext cx="7882128" cy="1005840"/>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3</a:t>
              </a:r>
            </a:p>
          </p:txBody>
        </p:sp>
      </p:grpSp>
      <p:grpSp>
        <p:nvGrpSpPr>
          <p:cNvPr name="Group 60" id="60"/>
          <p:cNvGrpSpPr/>
          <p:nvPr/>
        </p:nvGrpSpPr>
        <p:grpSpPr>
          <a:xfrm rot="0">
            <a:off x="11274552" y="3044952"/>
            <a:ext cx="5911596" cy="480060"/>
            <a:chOff x="0" y="0"/>
            <a:chExt cx="7882128" cy="640080"/>
          </a:xfrm>
        </p:grpSpPr>
        <p:sp>
          <p:nvSpPr>
            <p:cNvPr name="Freeform 61" id="61"/>
            <p:cNvSpPr/>
            <p:nvPr/>
          </p:nvSpPr>
          <p:spPr>
            <a:xfrm flipH="false" flipV="false" rot="0">
              <a:off x="0" y="0"/>
              <a:ext cx="7882128" cy="640080"/>
            </a:xfrm>
            <a:custGeom>
              <a:avLst/>
              <a:gdLst/>
              <a:ahLst/>
              <a:cxnLst/>
              <a:rect r="r" b="b" t="t" l="l"/>
              <a:pathLst>
                <a:path h="640080" w="7882128">
                  <a:moveTo>
                    <a:pt x="0" y="0"/>
                  </a:moveTo>
                  <a:lnTo>
                    <a:pt x="7882128" y="0"/>
                  </a:lnTo>
                  <a:lnTo>
                    <a:pt x="7882128" y="640080"/>
                  </a:lnTo>
                  <a:lnTo>
                    <a:pt x="0" y="640080"/>
                  </a:lnTo>
                  <a:close/>
                </a:path>
              </a:pathLst>
            </a:custGeom>
            <a:blipFill>
              <a:blip r:embed="rId3">
                <a:alphaModFix amt="0"/>
              </a:blip>
              <a:stretch>
                <a:fillRect l="0" t="-189944" r="0" b="-189944"/>
              </a:stretch>
            </a:blipFill>
          </p:spPr>
        </p:sp>
        <p:sp>
          <p:nvSpPr>
            <p:cNvPr name="TextBox 62" id="62"/>
            <p:cNvSpPr txBox="true"/>
            <p:nvPr/>
          </p:nvSpPr>
          <p:spPr>
            <a:xfrm>
              <a:off x="0" y="-38100"/>
              <a:ext cx="7882128" cy="67818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Linked Data Sources</a:t>
              </a:r>
            </a:p>
          </p:txBody>
        </p:sp>
      </p:grpSp>
      <p:grpSp>
        <p:nvGrpSpPr>
          <p:cNvPr name="Group 63" id="63"/>
          <p:cNvGrpSpPr/>
          <p:nvPr/>
        </p:nvGrpSpPr>
        <p:grpSpPr>
          <a:xfrm rot="0">
            <a:off x="11109960" y="3840480"/>
            <a:ext cx="6240780" cy="1371600"/>
            <a:chOff x="0" y="0"/>
            <a:chExt cx="8321040" cy="1828800"/>
          </a:xfrm>
        </p:grpSpPr>
        <p:sp>
          <p:nvSpPr>
            <p:cNvPr name="Freeform 64" id="64"/>
            <p:cNvSpPr/>
            <p:nvPr/>
          </p:nvSpPr>
          <p:spPr>
            <a:xfrm flipH="false" flipV="false" rot="0">
              <a:off x="0" y="0"/>
              <a:ext cx="8321040" cy="1828800"/>
            </a:xfrm>
            <a:custGeom>
              <a:avLst/>
              <a:gdLst/>
              <a:ahLst/>
              <a:cxnLst/>
              <a:rect r="r" b="b" t="t" l="l"/>
              <a:pathLst>
                <a:path h="1828800" w="8321040">
                  <a:moveTo>
                    <a:pt x="0" y="146304"/>
                  </a:moveTo>
                  <a:cubicBezTo>
                    <a:pt x="0" y="65532"/>
                    <a:pt x="65532" y="0"/>
                    <a:pt x="146304" y="0"/>
                  </a:cubicBezTo>
                  <a:lnTo>
                    <a:pt x="8174736" y="0"/>
                  </a:lnTo>
                  <a:cubicBezTo>
                    <a:pt x="8255508" y="0"/>
                    <a:pt x="8321040" y="65532"/>
                    <a:pt x="8321040" y="146304"/>
                  </a:cubicBezTo>
                  <a:lnTo>
                    <a:pt x="8321040" y="1682496"/>
                  </a:lnTo>
                  <a:cubicBezTo>
                    <a:pt x="8321040" y="1763268"/>
                    <a:pt x="8255508" y="1828800"/>
                    <a:pt x="8174736" y="1828800"/>
                  </a:cubicBezTo>
                  <a:lnTo>
                    <a:pt x="146304" y="1828800"/>
                  </a:lnTo>
                  <a:cubicBezTo>
                    <a:pt x="65532" y="1828800"/>
                    <a:pt x="0" y="1763268"/>
                    <a:pt x="0" y="1682496"/>
                  </a:cubicBezTo>
                  <a:close/>
                </a:path>
              </a:pathLst>
            </a:custGeom>
            <a:solidFill>
              <a:srgbClr val="F4F5F7"/>
            </a:solidFill>
          </p:spPr>
        </p:sp>
      </p:grpSp>
      <p:grpSp>
        <p:nvGrpSpPr>
          <p:cNvPr name="Group 65" id="65"/>
          <p:cNvGrpSpPr/>
          <p:nvPr/>
        </p:nvGrpSpPr>
        <p:grpSpPr>
          <a:xfrm rot="0">
            <a:off x="11274552" y="4005072"/>
            <a:ext cx="5911596" cy="754380"/>
            <a:chOff x="0" y="0"/>
            <a:chExt cx="7882128" cy="1005840"/>
          </a:xfrm>
        </p:grpSpPr>
        <p:sp>
          <p:nvSpPr>
            <p:cNvPr name="Freeform 66" id="66"/>
            <p:cNvSpPr/>
            <p:nvPr/>
          </p:nvSpPr>
          <p:spPr>
            <a:xfrm flipH="false" flipV="false" rot="0">
              <a:off x="0" y="0"/>
              <a:ext cx="7882128" cy="1005840"/>
            </a:xfrm>
            <a:custGeom>
              <a:avLst/>
              <a:gdLst/>
              <a:ahLst/>
              <a:cxnLst/>
              <a:rect r="r" b="b" t="t" l="l"/>
              <a:pathLst>
                <a:path h="1005840" w="7882128">
                  <a:moveTo>
                    <a:pt x="0" y="0"/>
                  </a:moveTo>
                  <a:lnTo>
                    <a:pt x="7882128" y="0"/>
                  </a:lnTo>
                  <a:lnTo>
                    <a:pt x="7882128" y="1005840"/>
                  </a:lnTo>
                  <a:lnTo>
                    <a:pt x="0" y="1005840"/>
                  </a:lnTo>
                  <a:close/>
                </a:path>
              </a:pathLst>
            </a:custGeom>
            <a:blipFill>
              <a:blip r:embed="rId3">
                <a:alphaModFix amt="0"/>
              </a:blip>
              <a:stretch>
                <a:fillRect l="0" t="-102691" r="0" b="-102691"/>
              </a:stretch>
            </a:blipFill>
          </p:spPr>
        </p:sp>
        <p:sp>
          <p:nvSpPr>
            <p:cNvPr name="TextBox 67" id="67"/>
            <p:cNvSpPr txBox="true"/>
            <p:nvPr/>
          </p:nvSpPr>
          <p:spPr>
            <a:xfrm>
              <a:off x="0" y="0"/>
              <a:ext cx="7882128" cy="1005840"/>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10 Yrs</a:t>
              </a:r>
            </a:p>
          </p:txBody>
        </p:sp>
      </p:grpSp>
      <p:grpSp>
        <p:nvGrpSpPr>
          <p:cNvPr name="Group 68" id="68"/>
          <p:cNvGrpSpPr/>
          <p:nvPr/>
        </p:nvGrpSpPr>
        <p:grpSpPr>
          <a:xfrm rot="0">
            <a:off x="11274552" y="4663440"/>
            <a:ext cx="5911596" cy="480060"/>
            <a:chOff x="0" y="0"/>
            <a:chExt cx="7882128" cy="640080"/>
          </a:xfrm>
        </p:grpSpPr>
        <p:sp>
          <p:nvSpPr>
            <p:cNvPr name="Freeform 69" id="69"/>
            <p:cNvSpPr/>
            <p:nvPr/>
          </p:nvSpPr>
          <p:spPr>
            <a:xfrm flipH="false" flipV="false" rot="0">
              <a:off x="0" y="0"/>
              <a:ext cx="7882128" cy="640080"/>
            </a:xfrm>
            <a:custGeom>
              <a:avLst/>
              <a:gdLst/>
              <a:ahLst/>
              <a:cxnLst/>
              <a:rect r="r" b="b" t="t" l="l"/>
              <a:pathLst>
                <a:path h="640080" w="7882128">
                  <a:moveTo>
                    <a:pt x="0" y="0"/>
                  </a:moveTo>
                  <a:lnTo>
                    <a:pt x="7882128" y="0"/>
                  </a:lnTo>
                  <a:lnTo>
                    <a:pt x="7882128" y="640080"/>
                  </a:lnTo>
                  <a:lnTo>
                    <a:pt x="0" y="640080"/>
                  </a:lnTo>
                  <a:close/>
                </a:path>
              </a:pathLst>
            </a:custGeom>
            <a:blipFill>
              <a:blip r:embed="rId3">
                <a:alphaModFix amt="0"/>
              </a:blip>
              <a:stretch>
                <a:fillRect l="0" t="-189944" r="0" b="-189944"/>
              </a:stretch>
            </a:blipFill>
          </p:spPr>
        </p:sp>
        <p:sp>
          <p:nvSpPr>
            <p:cNvPr name="TextBox 70" id="70"/>
            <p:cNvSpPr txBox="true"/>
            <p:nvPr/>
          </p:nvSpPr>
          <p:spPr>
            <a:xfrm>
              <a:off x="0" y="-38100"/>
              <a:ext cx="7882128" cy="67818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Covered (2015–2024)</a:t>
              </a:r>
            </a:p>
          </p:txBody>
        </p:sp>
      </p:grpSp>
      <p:grpSp>
        <p:nvGrpSpPr>
          <p:cNvPr name="Group 71" id="71"/>
          <p:cNvGrpSpPr/>
          <p:nvPr/>
        </p:nvGrpSpPr>
        <p:grpSpPr>
          <a:xfrm rot="0">
            <a:off x="11109960" y="5458968"/>
            <a:ext cx="6240780" cy="1371600"/>
            <a:chOff x="0" y="0"/>
            <a:chExt cx="8321040" cy="1828800"/>
          </a:xfrm>
        </p:grpSpPr>
        <p:sp>
          <p:nvSpPr>
            <p:cNvPr name="Freeform 72" id="72"/>
            <p:cNvSpPr/>
            <p:nvPr/>
          </p:nvSpPr>
          <p:spPr>
            <a:xfrm flipH="false" flipV="false" rot="0">
              <a:off x="0" y="0"/>
              <a:ext cx="8321040" cy="1828800"/>
            </a:xfrm>
            <a:custGeom>
              <a:avLst/>
              <a:gdLst/>
              <a:ahLst/>
              <a:cxnLst/>
              <a:rect r="r" b="b" t="t" l="l"/>
              <a:pathLst>
                <a:path h="1828800" w="8321040">
                  <a:moveTo>
                    <a:pt x="0" y="146304"/>
                  </a:moveTo>
                  <a:cubicBezTo>
                    <a:pt x="0" y="65532"/>
                    <a:pt x="65532" y="0"/>
                    <a:pt x="146304" y="0"/>
                  </a:cubicBezTo>
                  <a:lnTo>
                    <a:pt x="8174736" y="0"/>
                  </a:lnTo>
                  <a:cubicBezTo>
                    <a:pt x="8255508" y="0"/>
                    <a:pt x="8321040" y="65532"/>
                    <a:pt x="8321040" y="146304"/>
                  </a:cubicBezTo>
                  <a:lnTo>
                    <a:pt x="8321040" y="1682496"/>
                  </a:lnTo>
                  <a:cubicBezTo>
                    <a:pt x="8321040" y="1763268"/>
                    <a:pt x="8255508" y="1828800"/>
                    <a:pt x="8174736" y="1828800"/>
                  </a:cubicBezTo>
                  <a:lnTo>
                    <a:pt x="146304" y="1828800"/>
                  </a:lnTo>
                  <a:cubicBezTo>
                    <a:pt x="65532" y="1828800"/>
                    <a:pt x="0" y="1763268"/>
                    <a:pt x="0" y="1682496"/>
                  </a:cubicBezTo>
                  <a:close/>
                </a:path>
              </a:pathLst>
            </a:custGeom>
            <a:solidFill>
              <a:srgbClr val="F4F5F7"/>
            </a:solidFill>
          </p:spPr>
        </p:sp>
      </p:grpSp>
      <p:grpSp>
        <p:nvGrpSpPr>
          <p:cNvPr name="Group 73" id="73"/>
          <p:cNvGrpSpPr/>
          <p:nvPr/>
        </p:nvGrpSpPr>
        <p:grpSpPr>
          <a:xfrm rot="0">
            <a:off x="11274552" y="5623560"/>
            <a:ext cx="5911596" cy="754380"/>
            <a:chOff x="0" y="0"/>
            <a:chExt cx="7882128" cy="1005840"/>
          </a:xfrm>
        </p:grpSpPr>
        <p:sp>
          <p:nvSpPr>
            <p:cNvPr name="Freeform 74" id="74"/>
            <p:cNvSpPr/>
            <p:nvPr/>
          </p:nvSpPr>
          <p:spPr>
            <a:xfrm flipH="false" flipV="false" rot="0">
              <a:off x="0" y="0"/>
              <a:ext cx="7882128" cy="1005840"/>
            </a:xfrm>
            <a:custGeom>
              <a:avLst/>
              <a:gdLst/>
              <a:ahLst/>
              <a:cxnLst/>
              <a:rect r="r" b="b" t="t" l="l"/>
              <a:pathLst>
                <a:path h="1005840" w="7882128">
                  <a:moveTo>
                    <a:pt x="0" y="0"/>
                  </a:moveTo>
                  <a:lnTo>
                    <a:pt x="7882128" y="0"/>
                  </a:lnTo>
                  <a:lnTo>
                    <a:pt x="7882128" y="1005840"/>
                  </a:lnTo>
                  <a:lnTo>
                    <a:pt x="0" y="1005840"/>
                  </a:lnTo>
                  <a:close/>
                </a:path>
              </a:pathLst>
            </a:custGeom>
            <a:blipFill>
              <a:blip r:embed="rId3">
                <a:alphaModFix amt="0"/>
              </a:blip>
              <a:stretch>
                <a:fillRect l="0" t="-102691" r="0" b="-102691"/>
              </a:stretch>
            </a:blipFill>
          </p:spPr>
        </p:sp>
        <p:sp>
          <p:nvSpPr>
            <p:cNvPr name="TextBox 75" id="75"/>
            <p:cNvSpPr txBox="true"/>
            <p:nvPr/>
          </p:nvSpPr>
          <p:spPr>
            <a:xfrm>
              <a:off x="0" y="0"/>
              <a:ext cx="7882128" cy="1005840"/>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28+</a:t>
              </a:r>
            </a:p>
          </p:txBody>
        </p:sp>
      </p:grpSp>
      <p:grpSp>
        <p:nvGrpSpPr>
          <p:cNvPr name="Group 76" id="76"/>
          <p:cNvGrpSpPr/>
          <p:nvPr/>
        </p:nvGrpSpPr>
        <p:grpSpPr>
          <a:xfrm rot="0">
            <a:off x="11274552" y="6281928"/>
            <a:ext cx="5911596" cy="480060"/>
            <a:chOff x="0" y="0"/>
            <a:chExt cx="7882128" cy="640080"/>
          </a:xfrm>
        </p:grpSpPr>
        <p:sp>
          <p:nvSpPr>
            <p:cNvPr name="Freeform 77" id="77"/>
            <p:cNvSpPr/>
            <p:nvPr/>
          </p:nvSpPr>
          <p:spPr>
            <a:xfrm flipH="false" flipV="false" rot="0">
              <a:off x="0" y="0"/>
              <a:ext cx="7882128" cy="640080"/>
            </a:xfrm>
            <a:custGeom>
              <a:avLst/>
              <a:gdLst/>
              <a:ahLst/>
              <a:cxnLst/>
              <a:rect r="r" b="b" t="t" l="l"/>
              <a:pathLst>
                <a:path h="640080" w="7882128">
                  <a:moveTo>
                    <a:pt x="0" y="0"/>
                  </a:moveTo>
                  <a:lnTo>
                    <a:pt x="7882128" y="0"/>
                  </a:lnTo>
                  <a:lnTo>
                    <a:pt x="7882128" y="640080"/>
                  </a:lnTo>
                  <a:lnTo>
                    <a:pt x="0" y="640080"/>
                  </a:lnTo>
                  <a:close/>
                </a:path>
              </a:pathLst>
            </a:custGeom>
            <a:blipFill>
              <a:blip r:embed="rId3">
                <a:alphaModFix amt="0"/>
              </a:blip>
              <a:stretch>
                <a:fillRect l="0" t="-189944" r="0" b="-189944"/>
              </a:stretch>
            </a:blipFill>
          </p:spPr>
        </p:sp>
        <p:sp>
          <p:nvSpPr>
            <p:cNvPr name="TextBox 78" id="78"/>
            <p:cNvSpPr txBox="true"/>
            <p:nvPr/>
          </p:nvSpPr>
          <p:spPr>
            <a:xfrm>
              <a:off x="0" y="-38100"/>
              <a:ext cx="7882128" cy="67818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States &amp; UTs</a:t>
              </a:r>
            </a:p>
          </p:txBody>
        </p:sp>
      </p:grpSp>
      <p:grpSp>
        <p:nvGrpSpPr>
          <p:cNvPr name="Group 79" id="79"/>
          <p:cNvGrpSpPr/>
          <p:nvPr/>
        </p:nvGrpSpPr>
        <p:grpSpPr>
          <a:xfrm rot="0">
            <a:off x="11100435" y="7067931"/>
            <a:ext cx="6259830" cy="1390650"/>
            <a:chOff x="0" y="0"/>
            <a:chExt cx="8346440" cy="1854200"/>
          </a:xfrm>
        </p:grpSpPr>
        <p:sp>
          <p:nvSpPr>
            <p:cNvPr name="Freeform 80" id="80"/>
            <p:cNvSpPr/>
            <p:nvPr/>
          </p:nvSpPr>
          <p:spPr>
            <a:xfrm flipH="false" flipV="false" rot="0">
              <a:off x="0" y="0"/>
              <a:ext cx="8346440" cy="1854200"/>
            </a:xfrm>
            <a:custGeom>
              <a:avLst/>
              <a:gdLst/>
              <a:ahLst/>
              <a:cxnLst/>
              <a:rect r="r" b="b" t="t" l="l"/>
              <a:pathLst>
                <a:path h="1854200" w="8346440">
                  <a:moveTo>
                    <a:pt x="0" y="148336"/>
                  </a:moveTo>
                  <a:cubicBezTo>
                    <a:pt x="0" y="66421"/>
                    <a:pt x="66421" y="0"/>
                    <a:pt x="148336" y="0"/>
                  </a:cubicBezTo>
                  <a:lnTo>
                    <a:pt x="8198104" y="0"/>
                  </a:lnTo>
                  <a:cubicBezTo>
                    <a:pt x="8280019" y="0"/>
                    <a:pt x="8346440" y="66421"/>
                    <a:pt x="8346440" y="148336"/>
                  </a:cubicBezTo>
                  <a:lnTo>
                    <a:pt x="8346440" y="1705864"/>
                  </a:lnTo>
                  <a:cubicBezTo>
                    <a:pt x="8346440" y="1787779"/>
                    <a:pt x="8280019" y="1854200"/>
                    <a:pt x="8198104" y="1854200"/>
                  </a:cubicBezTo>
                  <a:lnTo>
                    <a:pt x="148336" y="1854200"/>
                  </a:lnTo>
                  <a:cubicBezTo>
                    <a:pt x="66421" y="1854200"/>
                    <a:pt x="0" y="1787779"/>
                    <a:pt x="0" y="1705864"/>
                  </a:cubicBezTo>
                  <a:close/>
                </a:path>
              </a:pathLst>
            </a:custGeom>
            <a:solidFill>
              <a:srgbClr val="F4F5F7"/>
            </a:solidFill>
            <a:ln w="19050" cap="sq">
              <a:solidFill>
                <a:srgbClr val="E8A33D"/>
              </a:solidFill>
              <a:prstDash val="solid"/>
              <a:miter/>
            </a:ln>
          </p:spPr>
        </p:sp>
      </p:grpSp>
      <p:grpSp>
        <p:nvGrpSpPr>
          <p:cNvPr name="Group 81" id="81"/>
          <p:cNvGrpSpPr/>
          <p:nvPr/>
        </p:nvGrpSpPr>
        <p:grpSpPr>
          <a:xfrm rot="0">
            <a:off x="11384280" y="7214616"/>
            <a:ext cx="5692140" cy="384048"/>
            <a:chOff x="0" y="0"/>
            <a:chExt cx="7589520" cy="512064"/>
          </a:xfrm>
        </p:grpSpPr>
        <p:sp>
          <p:nvSpPr>
            <p:cNvPr name="Freeform 82" id="82"/>
            <p:cNvSpPr/>
            <p:nvPr/>
          </p:nvSpPr>
          <p:spPr>
            <a:xfrm flipH="false" flipV="false" rot="0">
              <a:off x="0" y="0"/>
              <a:ext cx="7589520" cy="512064"/>
            </a:xfrm>
            <a:custGeom>
              <a:avLst/>
              <a:gdLst/>
              <a:ahLst/>
              <a:cxnLst/>
              <a:rect r="r" b="b" t="t" l="l"/>
              <a:pathLst>
                <a:path h="512064" w="7589520">
                  <a:moveTo>
                    <a:pt x="0" y="0"/>
                  </a:moveTo>
                  <a:lnTo>
                    <a:pt x="7589520" y="0"/>
                  </a:lnTo>
                  <a:lnTo>
                    <a:pt x="7589520" y="512064"/>
                  </a:lnTo>
                  <a:lnTo>
                    <a:pt x="0" y="512064"/>
                  </a:lnTo>
                  <a:close/>
                </a:path>
              </a:pathLst>
            </a:custGeom>
            <a:blipFill>
              <a:blip r:embed="rId3">
                <a:alphaModFix amt="0"/>
              </a:blip>
              <a:stretch>
                <a:fillRect l="0" t="-238796" r="0" b="-238796"/>
              </a:stretch>
            </a:blipFill>
          </p:spPr>
        </p:sp>
        <p:sp>
          <p:nvSpPr>
            <p:cNvPr name="TextBox 83" id="83"/>
            <p:cNvSpPr txBox="true"/>
            <p:nvPr/>
          </p:nvSpPr>
          <p:spPr>
            <a:xfrm>
              <a:off x="0" y="-28575"/>
              <a:ext cx="7589520" cy="540639"/>
            </a:xfrm>
            <a:prstGeom prst="rect">
              <a:avLst/>
            </a:prstGeom>
          </p:spPr>
          <p:txBody>
            <a:bodyPr anchor="ctr" rtlCol="false" tIns="0" lIns="0" bIns="0" rIns="0"/>
            <a:lstStyle/>
            <a:p>
              <a:pPr algn="l">
                <a:lnSpc>
                  <a:spcPts val="1620"/>
                </a:lnSpc>
              </a:pPr>
              <a:r>
                <a:rPr lang="en-US" b="true" sz="1350" spc="149">
                  <a:solidFill>
                    <a:srgbClr val="E8A33D"/>
                  </a:solidFill>
                  <a:latin typeface="Calibri (MS) Bold"/>
                  <a:ea typeface="Calibri (MS) Bold"/>
                  <a:cs typeface="Calibri (MS) Bold"/>
                  <a:sym typeface="Calibri (MS) Bold"/>
                </a:rPr>
                <a:t>DATA SOURCE</a:t>
              </a:r>
            </a:p>
          </p:txBody>
        </p:sp>
      </p:grpSp>
      <p:sp>
        <p:nvSpPr>
          <p:cNvPr name="TextBox 84" id="84"/>
          <p:cNvSpPr txBox="true"/>
          <p:nvPr/>
        </p:nvSpPr>
        <p:spPr>
          <a:xfrm rot="0">
            <a:off x="11384280" y="7589139"/>
            <a:ext cx="5692140" cy="722757"/>
          </a:xfrm>
          <a:prstGeom prst="rect">
            <a:avLst/>
          </a:prstGeom>
        </p:spPr>
        <p:txBody>
          <a:bodyPr anchor="t" rtlCol="false" tIns="0" lIns="0" bIns="0" rIns="0">
            <a:spAutoFit/>
          </a:bodyPr>
          <a:lstStyle/>
          <a:p>
            <a:pPr algn="l">
              <a:lnSpc>
                <a:spcPts val="1800"/>
              </a:lnSpc>
            </a:pPr>
            <a:r>
              <a:rPr lang="en-US" sz="1500" i="true">
                <a:solidFill>
                  <a:srgbClr val="1B2A4A"/>
                </a:solidFill>
                <a:latin typeface="Courier New Italics"/>
                <a:ea typeface="Courier New Italics"/>
                <a:cs typeface="Courier New Italics"/>
                <a:sym typeface="Courier New Italics"/>
              </a:rPr>
              <a:t>Compiled crime-data CSVs — original publisher not cited in the source files.</a:t>
            </a:r>
          </a:p>
        </p:txBody>
      </p:sp>
      <p:sp>
        <p:nvSpPr>
          <p:cNvPr name="TextBox 85" id="85"/>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BUILD &amp; DEBUGGING PROCESS</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From Static Mock-up to Interactive Dashboard</a:t>
            </a:r>
          </a:p>
        </p:txBody>
      </p:sp>
      <p:grpSp>
        <p:nvGrpSpPr>
          <p:cNvPr name="Group 7" id="7"/>
          <p:cNvGrpSpPr/>
          <p:nvPr/>
        </p:nvGrpSpPr>
        <p:grpSpPr>
          <a:xfrm rot="0">
            <a:off x="932688" y="2221992"/>
            <a:ext cx="5266944" cy="2359152"/>
            <a:chOff x="0" y="0"/>
            <a:chExt cx="7022592" cy="3145536"/>
          </a:xfrm>
        </p:grpSpPr>
        <p:sp>
          <p:nvSpPr>
            <p:cNvPr name="Freeform 8" id="8"/>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9" id="9"/>
          <p:cNvGrpSpPr/>
          <p:nvPr/>
        </p:nvGrpSpPr>
        <p:grpSpPr>
          <a:xfrm rot="0">
            <a:off x="1179576" y="2468880"/>
            <a:ext cx="548640" cy="548640"/>
            <a:chOff x="0" y="0"/>
            <a:chExt cx="731520" cy="731520"/>
          </a:xfrm>
        </p:grpSpPr>
        <p:sp>
          <p:nvSpPr>
            <p:cNvPr name="Freeform 10" id="1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A33D"/>
            </a:solidFill>
          </p:spPr>
        </p:sp>
      </p:grpSp>
      <p:grpSp>
        <p:nvGrpSpPr>
          <p:cNvPr name="Group 11" id="11"/>
          <p:cNvGrpSpPr/>
          <p:nvPr/>
        </p:nvGrpSpPr>
        <p:grpSpPr>
          <a:xfrm rot="0">
            <a:off x="1179576" y="2468880"/>
            <a:ext cx="548640" cy="548640"/>
            <a:chOff x="0" y="0"/>
            <a:chExt cx="731520" cy="731520"/>
          </a:xfrm>
        </p:grpSpPr>
        <p:sp>
          <p:nvSpPr>
            <p:cNvPr name="Freeform 12" id="12"/>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3" id="13"/>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01</a:t>
              </a:r>
            </a:p>
          </p:txBody>
        </p:sp>
      </p:grpSp>
      <p:grpSp>
        <p:nvGrpSpPr>
          <p:cNvPr name="Group 14" id="14"/>
          <p:cNvGrpSpPr/>
          <p:nvPr/>
        </p:nvGrpSpPr>
        <p:grpSpPr>
          <a:xfrm rot="0">
            <a:off x="1892808" y="2455164"/>
            <a:ext cx="4087368" cy="576072"/>
            <a:chOff x="0" y="0"/>
            <a:chExt cx="5449824" cy="768096"/>
          </a:xfrm>
        </p:grpSpPr>
        <p:sp>
          <p:nvSpPr>
            <p:cNvPr name="Freeform 15" id="15"/>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16" id="16"/>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Fixed the Layout</a:t>
              </a:r>
            </a:p>
          </p:txBody>
        </p:sp>
      </p:grpSp>
      <p:sp>
        <p:nvSpPr>
          <p:cNvPr name="TextBox 17" id="17"/>
          <p:cNvSpPr txBox="true"/>
          <p:nvPr/>
        </p:nvSpPr>
        <p:spPr>
          <a:xfrm rot="0">
            <a:off x="1179576" y="310705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Switched sizing from Automatic to Fixed (1366×768) and converted floating zones to a tiled grid for consistent rendering.</a:t>
            </a:r>
          </a:p>
        </p:txBody>
      </p:sp>
      <p:grpSp>
        <p:nvGrpSpPr>
          <p:cNvPr name="Group 18" id="18"/>
          <p:cNvGrpSpPr/>
          <p:nvPr/>
        </p:nvGrpSpPr>
        <p:grpSpPr>
          <a:xfrm rot="0">
            <a:off x="6446520" y="2221992"/>
            <a:ext cx="5266944" cy="2359152"/>
            <a:chOff x="0" y="0"/>
            <a:chExt cx="7022592" cy="3145536"/>
          </a:xfrm>
        </p:grpSpPr>
        <p:sp>
          <p:nvSpPr>
            <p:cNvPr name="Freeform 19" id="19"/>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20" id="20"/>
          <p:cNvGrpSpPr/>
          <p:nvPr/>
        </p:nvGrpSpPr>
        <p:grpSpPr>
          <a:xfrm rot="0">
            <a:off x="6693408" y="2468880"/>
            <a:ext cx="548640" cy="548640"/>
            <a:chOff x="0" y="0"/>
            <a:chExt cx="731520" cy="731520"/>
          </a:xfrm>
        </p:grpSpPr>
        <p:sp>
          <p:nvSpPr>
            <p:cNvPr name="Freeform 21" id="2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1F9D8A"/>
            </a:solidFill>
          </p:spPr>
        </p:sp>
      </p:grpSp>
      <p:grpSp>
        <p:nvGrpSpPr>
          <p:cNvPr name="Group 22" id="22"/>
          <p:cNvGrpSpPr/>
          <p:nvPr/>
        </p:nvGrpSpPr>
        <p:grpSpPr>
          <a:xfrm rot="0">
            <a:off x="6693408" y="2468880"/>
            <a:ext cx="548640" cy="54864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4" id="24"/>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02</a:t>
              </a:r>
            </a:p>
          </p:txBody>
        </p:sp>
      </p:grpSp>
      <p:grpSp>
        <p:nvGrpSpPr>
          <p:cNvPr name="Group 25" id="25"/>
          <p:cNvGrpSpPr/>
          <p:nvPr/>
        </p:nvGrpSpPr>
        <p:grpSpPr>
          <a:xfrm rot="0">
            <a:off x="7406640" y="2455164"/>
            <a:ext cx="4087368" cy="576072"/>
            <a:chOff x="0" y="0"/>
            <a:chExt cx="5449824" cy="768096"/>
          </a:xfrm>
        </p:grpSpPr>
        <p:sp>
          <p:nvSpPr>
            <p:cNvPr name="Freeform 26" id="26"/>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27" id="27"/>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Wired the Year Parameter</a:t>
              </a:r>
            </a:p>
          </p:txBody>
        </p:sp>
      </p:grpSp>
      <p:sp>
        <p:nvSpPr>
          <p:cNvPr name="TextBox 28" id="28"/>
          <p:cNvSpPr txBox="true"/>
          <p:nvPr/>
        </p:nvSpPr>
        <p:spPr>
          <a:xfrm rot="0">
            <a:off x="6693408" y="310705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Built a YearMatch calculated field ([year] = [Select Year]) and applied it to every chart still hardcoded to one fixed year.</a:t>
            </a:r>
          </a:p>
        </p:txBody>
      </p:sp>
      <p:grpSp>
        <p:nvGrpSpPr>
          <p:cNvPr name="Group 29" id="29"/>
          <p:cNvGrpSpPr/>
          <p:nvPr/>
        </p:nvGrpSpPr>
        <p:grpSpPr>
          <a:xfrm rot="0">
            <a:off x="11960352" y="2221992"/>
            <a:ext cx="5266944" cy="2359152"/>
            <a:chOff x="0" y="0"/>
            <a:chExt cx="7022592" cy="3145536"/>
          </a:xfrm>
        </p:grpSpPr>
        <p:sp>
          <p:nvSpPr>
            <p:cNvPr name="Freeform 30" id="30"/>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31" id="31"/>
          <p:cNvGrpSpPr/>
          <p:nvPr/>
        </p:nvGrpSpPr>
        <p:grpSpPr>
          <a:xfrm rot="0">
            <a:off x="12207240" y="2468880"/>
            <a:ext cx="548640" cy="548640"/>
            <a:chOff x="0" y="0"/>
            <a:chExt cx="731520" cy="731520"/>
          </a:xfrm>
        </p:grpSpPr>
        <p:sp>
          <p:nvSpPr>
            <p:cNvPr name="Freeform 32" id="3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C23B3B"/>
            </a:solidFill>
          </p:spPr>
        </p:sp>
      </p:grpSp>
      <p:grpSp>
        <p:nvGrpSpPr>
          <p:cNvPr name="Group 33" id="33"/>
          <p:cNvGrpSpPr/>
          <p:nvPr/>
        </p:nvGrpSpPr>
        <p:grpSpPr>
          <a:xfrm rot="0">
            <a:off x="12207240" y="2468880"/>
            <a:ext cx="548640" cy="548640"/>
            <a:chOff x="0" y="0"/>
            <a:chExt cx="731520" cy="731520"/>
          </a:xfrm>
        </p:grpSpPr>
        <p:sp>
          <p:nvSpPr>
            <p:cNvPr name="Freeform 34" id="3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5" id="35"/>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03</a:t>
              </a:r>
            </a:p>
          </p:txBody>
        </p:sp>
      </p:grpSp>
      <p:grpSp>
        <p:nvGrpSpPr>
          <p:cNvPr name="Group 36" id="36"/>
          <p:cNvGrpSpPr/>
          <p:nvPr/>
        </p:nvGrpSpPr>
        <p:grpSpPr>
          <a:xfrm rot="0">
            <a:off x="12920472" y="2455164"/>
            <a:ext cx="4087368" cy="576072"/>
            <a:chOff x="0" y="0"/>
            <a:chExt cx="5449824" cy="768096"/>
          </a:xfrm>
        </p:grpSpPr>
        <p:sp>
          <p:nvSpPr>
            <p:cNvPr name="Freeform 37" id="37"/>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38" id="38"/>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Connected Filters Dashboard-Wide</a:t>
              </a:r>
            </a:p>
          </p:txBody>
        </p:sp>
      </p:grpSp>
      <p:sp>
        <p:nvSpPr>
          <p:cNvPr name="TextBox 39" id="39"/>
          <p:cNvSpPr txBox="true"/>
          <p:nvPr/>
        </p:nvSpPr>
        <p:spPr>
          <a:xfrm rot="0">
            <a:off x="12207240" y="310705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Applied State UT and Select Year as true cross-filters via Apply to Worksheets → All Using This Data Source.</a:t>
            </a:r>
          </a:p>
        </p:txBody>
      </p:sp>
      <p:grpSp>
        <p:nvGrpSpPr>
          <p:cNvPr name="Group 40" id="40"/>
          <p:cNvGrpSpPr/>
          <p:nvPr/>
        </p:nvGrpSpPr>
        <p:grpSpPr>
          <a:xfrm rot="0">
            <a:off x="932688" y="4828032"/>
            <a:ext cx="5266944" cy="2359152"/>
            <a:chOff x="0" y="0"/>
            <a:chExt cx="7022592" cy="3145536"/>
          </a:xfrm>
        </p:grpSpPr>
        <p:sp>
          <p:nvSpPr>
            <p:cNvPr name="Freeform 41" id="41"/>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42" id="42"/>
          <p:cNvGrpSpPr/>
          <p:nvPr/>
        </p:nvGrpSpPr>
        <p:grpSpPr>
          <a:xfrm rot="0">
            <a:off x="1179576" y="5074920"/>
            <a:ext cx="548640" cy="548640"/>
            <a:chOff x="0" y="0"/>
            <a:chExt cx="731520" cy="731520"/>
          </a:xfrm>
        </p:grpSpPr>
        <p:sp>
          <p:nvSpPr>
            <p:cNvPr name="Freeform 43" id="4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A33D"/>
            </a:solidFill>
          </p:spPr>
        </p:sp>
      </p:grpSp>
      <p:grpSp>
        <p:nvGrpSpPr>
          <p:cNvPr name="Group 44" id="44"/>
          <p:cNvGrpSpPr/>
          <p:nvPr/>
        </p:nvGrpSpPr>
        <p:grpSpPr>
          <a:xfrm rot="0">
            <a:off x="1179576" y="5074920"/>
            <a:ext cx="548640" cy="548640"/>
            <a:chOff x="0" y="0"/>
            <a:chExt cx="731520" cy="731520"/>
          </a:xfrm>
        </p:grpSpPr>
        <p:sp>
          <p:nvSpPr>
            <p:cNvPr name="Freeform 45" id="4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46" id="46"/>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04</a:t>
              </a:r>
            </a:p>
          </p:txBody>
        </p:sp>
      </p:grpSp>
      <p:grpSp>
        <p:nvGrpSpPr>
          <p:cNvPr name="Group 47" id="47"/>
          <p:cNvGrpSpPr/>
          <p:nvPr/>
        </p:nvGrpSpPr>
        <p:grpSpPr>
          <a:xfrm rot="0">
            <a:off x="1892808" y="5061204"/>
            <a:ext cx="4087368" cy="576072"/>
            <a:chOff x="0" y="0"/>
            <a:chExt cx="5449824" cy="768096"/>
          </a:xfrm>
        </p:grpSpPr>
        <p:sp>
          <p:nvSpPr>
            <p:cNvPr name="Freeform 48" id="48"/>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49" id="49"/>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Clarified Legal Categories</a:t>
              </a:r>
            </a:p>
          </p:txBody>
        </p:sp>
      </p:grpSp>
      <p:sp>
        <p:nvSpPr>
          <p:cNvPr name="TextBox 50" id="50"/>
          <p:cNvSpPr txBox="true"/>
          <p:nvPr/>
        </p:nvSpPr>
        <p:spPr>
          <a:xfrm rot="0">
            <a:off x="1179576" y="571309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Relabeled confusingly similar crime heads (Sec.66D vs Section 318) with their actual legal section for clarity.</a:t>
            </a:r>
          </a:p>
        </p:txBody>
      </p:sp>
      <p:grpSp>
        <p:nvGrpSpPr>
          <p:cNvPr name="Group 51" id="51"/>
          <p:cNvGrpSpPr/>
          <p:nvPr/>
        </p:nvGrpSpPr>
        <p:grpSpPr>
          <a:xfrm rot="0">
            <a:off x="6446520" y="4828032"/>
            <a:ext cx="5266944" cy="2359152"/>
            <a:chOff x="0" y="0"/>
            <a:chExt cx="7022592" cy="3145536"/>
          </a:xfrm>
        </p:grpSpPr>
        <p:sp>
          <p:nvSpPr>
            <p:cNvPr name="Freeform 52" id="52"/>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53" id="53"/>
          <p:cNvGrpSpPr/>
          <p:nvPr/>
        </p:nvGrpSpPr>
        <p:grpSpPr>
          <a:xfrm rot="0">
            <a:off x="6693408" y="5074920"/>
            <a:ext cx="548640" cy="548640"/>
            <a:chOff x="0" y="0"/>
            <a:chExt cx="731520" cy="731520"/>
          </a:xfrm>
        </p:grpSpPr>
        <p:sp>
          <p:nvSpPr>
            <p:cNvPr name="Freeform 54" id="54"/>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1F9D8A"/>
            </a:solidFill>
          </p:spPr>
        </p:sp>
      </p:grpSp>
      <p:grpSp>
        <p:nvGrpSpPr>
          <p:cNvPr name="Group 55" id="55"/>
          <p:cNvGrpSpPr/>
          <p:nvPr/>
        </p:nvGrpSpPr>
        <p:grpSpPr>
          <a:xfrm rot="0">
            <a:off x="6693408" y="5074920"/>
            <a:ext cx="548640" cy="548640"/>
            <a:chOff x="0" y="0"/>
            <a:chExt cx="731520" cy="731520"/>
          </a:xfrm>
        </p:grpSpPr>
        <p:sp>
          <p:nvSpPr>
            <p:cNvPr name="Freeform 56" id="5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7" id="57"/>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05</a:t>
              </a:r>
            </a:p>
          </p:txBody>
        </p:sp>
      </p:grpSp>
      <p:grpSp>
        <p:nvGrpSpPr>
          <p:cNvPr name="Group 58" id="58"/>
          <p:cNvGrpSpPr/>
          <p:nvPr/>
        </p:nvGrpSpPr>
        <p:grpSpPr>
          <a:xfrm rot="0">
            <a:off x="7406640" y="5061204"/>
            <a:ext cx="4087368" cy="576072"/>
            <a:chOff x="0" y="0"/>
            <a:chExt cx="5449824" cy="768096"/>
          </a:xfrm>
        </p:grpSpPr>
        <p:sp>
          <p:nvSpPr>
            <p:cNvPr name="Freeform 59" id="59"/>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60" id="60"/>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Standardised Color</a:t>
              </a:r>
            </a:p>
          </p:txBody>
        </p:sp>
      </p:grpSp>
      <p:sp>
        <p:nvSpPr>
          <p:cNvPr name="TextBox 61" id="61"/>
          <p:cNvSpPr txBox="true"/>
          <p:nvPr/>
        </p:nvSpPr>
        <p:spPr>
          <a:xfrm rot="0">
            <a:off x="6693408" y="571309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Assigned one categorical palette so each crime/domain field holds the same color across every chart in the dashboard.</a:t>
            </a:r>
          </a:p>
        </p:txBody>
      </p:sp>
      <p:grpSp>
        <p:nvGrpSpPr>
          <p:cNvPr name="Group 62" id="62"/>
          <p:cNvGrpSpPr/>
          <p:nvPr/>
        </p:nvGrpSpPr>
        <p:grpSpPr>
          <a:xfrm rot="0">
            <a:off x="11960352" y="4828032"/>
            <a:ext cx="5266944" cy="2359152"/>
            <a:chOff x="0" y="0"/>
            <a:chExt cx="7022592" cy="3145536"/>
          </a:xfrm>
        </p:grpSpPr>
        <p:sp>
          <p:nvSpPr>
            <p:cNvPr name="Freeform 63" id="63"/>
            <p:cNvSpPr/>
            <p:nvPr/>
          </p:nvSpPr>
          <p:spPr>
            <a:xfrm flipH="false" flipV="false" rot="0">
              <a:off x="0" y="0"/>
              <a:ext cx="7022592" cy="3145536"/>
            </a:xfrm>
            <a:custGeom>
              <a:avLst/>
              <a:gdLst/>
              <a:ahLst/>
              <a:cxnLst/>
              <a:rect r="r" b="b" t="t" l="l"/>
              <a:pathLst>
                <a:path h="3145536" w="7022592">
                  <a:moveTo>
                    <a:pt x="0" y="146304"/>
                  </a:moveTo>
                  <a:cubicBezTo>
                    <a:pt x="0" y="65532"/>
                    <a:pt x="65532" y="0"/>
                    <a:pt x="146304" y="0"/>
                  </a:cubicBezTo>
                  <a:lnTo>
                    <a:pt x="6876288" y="0"/>
                  </a:lnTo>
                  <a:cubicBezTo>
                    <a:pt x="6957060" y="0"/>
                    <a:pt x="7022592" y="65532"/>
                    <a:pt x="7022592" y="146304"/>
                  </a:cubicBezTo>
                  <a:lnTo>
                    <a:pt x="7022592" y="2999232"/>
                  </a:lnTo>
                  <a:cubicBezTo>
                    <a:pt x="7022592" y="3080004"/>
                    <a:pt x="6957060" y="3145536"/>
                    <a:pt x="6876288" y="3145536"/>
                  </a:cubicBezTo>
                  <a:lnTo>
                    <a:pt x="146304" y="3145536"/>
                  </a:lnTo>
                  <a:cubicBezTo>
                    <a:pt x="65532" y="3145536"/>
                    <a:pt x="0" y="3080004"/>
                    <a:pt x="0" y="2999232"/>
                  </a:cubicBezTo>
                  <a:close/>
                </a:path>
              </a:pathLst>
            </a:custGeom>
            <a:solidFill>
              <a:srgbClr val="F4F5F7"/>
            </a:solidFill>
          </p:spPr>
        </p:sp>
      </p:grpSp>
      <p:grpSp>
        <p:nvGrpSpPr>
          <p:cNvPr name="Group 64" id="64"/>
          <p:cNvGrpSpPr/>
          <p:nvPr/>
        </p:nvGrpSpPr>
        <p:grpSpPr>
          <a:xfrm rot="0">
            <a:off x="12207240" y="5074920"/>
            <a:ext cx="548640" cy="548640"/>
            <a:chOff x="0" y="0"/>
            <a:chExt cx="731520" cy="731520"/>
          </a:xfrm>
        </p:grpSpPr>
        <p:sp>
          <p:nvSpPr>
            <p:cNvPr name="Freeform 65" id="6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C23B3B"/>
            </a:solidFill>
          </p:spPr>
        </p:sp>
      </p:grpSp>
      <p:grpSp>
        <p:nvGrpSpPr>
          <p:cNvPr name="Group 66" id="66"/>
          <p:cNvGrpSpPr/>
          <p:nvPr/>
        </p:nvGrpSpPr>
        <p:grpSpPr>
          <a:xfrm rot="0">
            <a:off x="12207240" y="5074920"/>
            <a:ext cx="548640" cy="548640"/>
            <a:chOff x="0" y="0"/>
            <a:chExt cx="731520" cy="731520"/>
          </a:xfrm>
        </p:grpSpPr>
        <p:sp>
          <p:nvSpPr>
            <p:cNvPr name="Freeform 67" id="6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68" id="68"/>
            <p:cNvSpPr txBox="true"/>
            <p:nvPr/>
          </p:nvSpPr>
          <p:spPr>
            <a:xfrm>
              <a:off x="0" y="0"/>
              <a:ext cx="731520" cy="731520"/>
            </a:xfrm>
            <a:prstGeom prst="rect">
              <a:avLst/>
            </a:prstGeom>
          </p:spPr>
          <p:txBody>
            <a:bodyPr anchor="ctr" rtlCol="false" tIns="0" lIns="0" bIns="0" rIns="0"/>
            <a:lstStyle/>
            <a:p>
              <a:pPr algn="ctr">
                <a:lnSpc>
                  <a:spcPts val="2340"/>
                </a:lnSpc>
              </a:pPr>
              <a:r>
                <a:rPr lang="en-US" b="true" sz="1950" spc="15">
                  <a:solidFill>
                    <a:srgbClr val="FFFFFF"/>
                  </a:solidFill>
                  <a:latin typeface="TT Phobos Bold"/>
                  <a:ea typeface="TT Phobos Bold"/>
                  <a:cs typeface="TT Phobos Bold"/>
                  <a:sym typeface="TT Phobos Bold"/>
                </a:rPr>
                <a:t>06</a:t>
              </a:r>
            </a:p>
          </p:txBody>
        </p:sp>
      </p:grpSp>
      <p:grpSp>
        <p:nvGrpSpPr>
          <p:cNvPr name="Group 69" id="69"/>
          <p:cNvGrpSpPr/>
          <p:nvPr/>
        </p:nvGrpSpPr>
        <p:grpSpPr>
          <a:xfrm rot="0">
            <a:off x="12920472" y="5061204"/>
            <a:ext cx="4087368" cy="576072"/>
            <a:chOff x="0" y="0"/>
            <a:chExt cx="5449824" cy="768096"/>
          </a:xfrm>
        </p:grpSpPr>
        <p:sp>
          <p:nvSpPr>
            <p:cNvPr name="Freeform 70" id="70"/>
            <p:cNvSpPr/>
            <p:nvPr/>
          </p:nvSpPr>
          <p:spPr>
            <a:xfrm flipH="false" flipV="false" rot="0">
              <a:off x="0" y="0"/>
              <a:ext cx="5449824" cy="768096"/>
            </a:xfrm>
            <a:custGeom>
              <a:avLst/>
              <a:gdLst/>
              <a:ahLst/>
              <a:cxnLst/>
              <a:rect r="r" b="b" t="t" l="l"/>
              <a:pathLst>
                <a:path h="768096" w="5449824">
                  <a:moveTo>
                    <a:pt x="0" y="0"/>
                  </a:moveTo>
                  <a:lnTo>
                    <a:pt x="5449824" y="0"/>
                  </a:lnTo>
                  <a:lnTo>
                    <a:pt x="5449824" y="768096"/>
                  </a:lnTo>
                  <a:lnTo>
                    <a:pt x="0" y="768096"/>
                  </a:lnTo>
                  <a:close/>
                </a:path>
              </a:pathLst>
            </a:custGeom>
            <a:blipFill>
              <a:blip r:embed="rId3">
                <a:alphaModFix amt="0"/>
              </a:blip>
              <a:stretch>
                <a:fillRect l="0" t="-88250" r="0" b="-88250"/>
              </a:stretch>
            </a:blipFill>
          </p:spPr>
        </p:sp>
        <p:sp>
          <p:nvSpPr>
            <p:cNvPr name="TextBox 71" id="71"/>
            <p:cNvSpPr txBox="true"/>
            <p:nvPr/>
          </p:nvSpPr>
          <p:spPr>
            <a:xfrm>
              <a:off x="0" y="-9525"/>
              <a:ext cx="5449824" cy="777621"/>
            </a:xfrm>
            <a:prstGeom prst="rect">
              <a:avLst/>
            </a:prstGeom>
          </p:spPr>
          <p:txBody>
            <a:bodyPr anchor="ctr" rtlCol="false" tIns="0" lIns="0" bIns="0" rIns="0"/>
            <a:lstStyle/>
            <a:p>
              <a:pPr algn="l">
                <a:lnSpc>
                  <a:spcPts val="2250"/>
                </a:lnSpc>
              </a:pPr>
              <a:r>
                <a:rPr lang="en-US" b="true" sz="1875" spc="14">
                  <a:solidFill>
                    <a:srgbClr val="11131A"/>
                  </a:solidFill>
                  <a:latin typeface="TT Phobos Bold"/>
                  <a:ea typeface="TT Phobos Bold"/>
                  <a:cs typeface="TT Phobos Bold"/>
                  <a:sym typeface="TT Phobos Bold"/>
                </a:rPr>
                <a:t>Built Custom Chart Types</a:t>
              </a:r>
            </a:p>
          </p:txBody>
        </p:sp>
      </p:grpSp>
      <p:sp>
        <p:nvSpPr>
          <p:cNvPr name="TextBox 72" id="72"/>
          <p:cNvSpPr txBox="true"/>
          <p:nvPr/>
        </p:nvSpPr>
        <p:spPr>
          <a:xfrm rot="0">
            <a:off x="12207240" y="5713095"/>
            <a:ext cx="4773168" cy="1282065"/>
          </a:xfrm>
          <a:prstGeom prst="rect">
            <a:avLst/>
          </a:prstGeom>
        </p:spPr>
        <p:txBody>
          <a:bodyPr anchor="t" rtlCol="false" tIns="0" lIns="0" bIns="0" rIns="0">
            <a:spAutoFit/>
          </a:bodyPr>
          <a:lstStyle/>
          <a:p>
            <a:pPr algn="l">
              <a:lnSpc>
                <a:spcPts val="1980"/>
              </a:lnSpc>
            </a:pPr>
            <a:r>
              <a:rPr lang="en-US" sz="1500">
                <a:solidFill>
                  <a:srgbClr val="4A4A52"/>
                </a:solidFill>
                <a:latin typeface="Calibri (MS)"/>
                <a:ea typeface="Calibri (MS)"/>
                <a:cs typeface="Calibri (MS)"/>
                <a:sym typeface="Calibri (MS)"/>
              </a:rPr>
              <a:t>Added a Lollipop chart for average loss per complaint and a Waterfall chart for year-over-year change.</a:t>
            </a:r>
          </a:p>
        </p:txBody>
      </p:sp>
      <p:sp>
        <p:nvSpPr>
          <p:cNvPr name="TextBox 73" id="73"/>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CALCULATED FIELDS &amp; PARAMETERS</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Key Logic Built in Tableau</a:t>
            </a:r>
          </a:p>
        </p:txBody>
      </p:sp>
      <p:grpSp>
        <p:nvGrpSpPr>
          <p:cNvPr name="Group 7" id="7"/>
          <p:cNvGrpSpPr/>
          <p:nvPr/>
        </p:nvGrpSpPr>
        <p:grpSpPr>
          <a:xfrm rot="0">
            <a:off x="932688" y="3291840"/>
            <a:ext cx="8174736" cy="3291840"/>
            <a:chOff x="0" y="0"/>
            <a:chExt cx="10899648" cy="4389120"/>
          </a:xfrm>
        </p:grpSpPr>
        <p:sp>
          <p:nvSpPr>
            <p:cNvPr name="Freeform 8" id="8"/>
            <p:cNvSpPr/>
            <p:nvPr/>
          </p:nvSpPr>
          <p:spPr>
            <a:xfrm flipH="false" flipV="false" rot="0">
              <a:off x="0" y="0"/>
              <a:ext cx="10899648" cy="4389120"/>
            </a:xfrm>
            <a:custGeom>
              <a:avLst/>
              <a:gdLst/>
              <a:ahLst/>
              <a:cxnLst/>
              <a:rect r="r" b="b" t="t" l="l"/>
              <a:pathLst>
                <a:path h="4389120" w="10899648">
                  <a:moveTo>
                    <a:pt x="0" y="146304"/>
                  </a:moveTo>
                  <a:cubicBezTo>
                    <a:pt x="0" y="65532"/>
                    <a:pt x="65532" y="0"/>
                    <a:pt x="146304" y="0"/>
                  </a:cubicBezTo>
                  <a:lnTo>
                    <a:pt x="10753344" y="0"/>
                  </a:lnTo>
                  <a:cubicBezTo>
                    <a:pt x="10834116" y="0"/>
                    <a:pt x="10899648" y="65532"/>
                    <a:pt x="10899648" y="146304"/>
                  </a:cubicBezTo>
                  <a:lnTo>
                    <a:pt x="10899648" y="4242816"/>
                  </a:lnTo>
                  <a:cubicBezTo>
                    <a:pt x="10899648" y="4323588"/>
                    <a:pt x="10834116" y="4389120"/>
                    <a:pt x="10753344" y="4389120"/>
                  </a:cubicBezTo>
                  <a:lnTo>
                    <a:pt x="146304" y="4389120"/>
                  </a:lnTo>
                  <a:cubicBezTo>
                    <a:pt x="65532" y="4389120"/>
                    <a:pt x="0" y="4323588"/>
                    <a:pt x="0" y="4242816"/>
                  </a:cubicBezTo>
                  <a:close/>
                </a:path>
              </a:pathLst>
            </a:custGeom>
            <a:solidFill>
              <a:srgbClr val="161B2C"/>
            </a:solidFill>
          </p:spPr>
        </p:sp>
      </p:grpSp>
      <p:grpSp>
        <p:nvGrpSpPr>
          <p:cNvPr name="Group 9" id="9"/>
          <p:cNvGrpSpPr/>
          <p:nvPr/>
        </p:nvGrpSpPr>
        <p:grpSpPr>
          <a:xfrm rot="0">
            <a:off x="1179576" y="3483864"/>
            <a:ext cx="7680960" cy="438912"/>
            <a:chOff x="0" y="0"/>
            <a:chExt cx="10241280" cy="585216"/>
          </a:xfrm>
        </p:grpSpPr>
        <p:sp>
          <p:nvSpPr>
            <p:cNvPr name="Freeform 10" id="10"/>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11" id="11"/>
            <p:cNvSpPr txBox="true"/>
            <p:nvPr/>
          </p:nvSpPr>
          <p:spPr>
            <a:xfrm>
              <a:off x="0" y="-38100"/>
              <a:ext cx="10241280" cy="623316"/>
            </a:xfrm>
            <a:prstGeom prst="rect">
              <a:avLst/>
            </a:prstGeom>
          </p:spPr>
          <p:txBody>
            <a:bodyPr anchor="ctr" rtlCol="false" tIns="0" lIns="0" bIns="0" rIns="0"/>
            <a:lstStyle/>
            <a:p>
              <a:pPr algn="l">
                <a:lnSpc>
                  <a:spcPts val="2070"/>
                </a:lnSpc>
              </a:pPr>
              <a:r>
                <a:rPr lang="en-US" sz="1725" b="true">
                  <a:solidFill>
                    <a:srgbClr val="E8A33D"/>
                  </a:solidFill>
                  <a:latin typeface="Calibri (MS) Bold"/>
                  <a:ea typeface="Calibri (MS) Bold"/>
                  <a:cs typeface="Calibri (MS) Bold"/>
                  <a:sym typeface="Calibri (MS) Bold"/>
                </a:rPr>
                <a:t>YearMatch</a:t>
              </a:r>
            </a:p>
          </p:txBody>
        </p:sp>
      </p:grpSp>
      <p:sp>
        <p:nvSpPr>
          <p:cNvPr name="TextBox 12" id="12"/>
          <p:cNvSpPr txBox="true"/>
          <p:nvPr/>
        </p:nvSpPr>
        <p:spPr>
          <a:xfrm rot="0">
            <a:off x="1179576" y="3912108"/>
            <a:ext cx="7680960" cy="2506980"/>
          </a:xfrm>
          <a:prstGeom prst="rect">
            <a:avLst/>
          </a:prstGeom>
        </p:spPr>
        <p:txBody>
          <a:bodyPr anchor="t" rtlCol="false" tIns="0" lIns="0" bIns="0" rIns="0">
            <a:spAutoFit/>
          </a:bodyPr>
          <a:lstStyle/>
          <a:p>
            <a:pPr algn="l">
              <a:lnSpc>
                <a:spcPts val="2052"/>
              </a:lnSpc>
            </a:pPr>
            <a:r>
              <a:rPr lang="en-US" sz="1425">
                <a:solidFill>
                  <a:srgbClr val="E4E4EC"/>
                </a:solidFill>
                <a:latin typeface="Courier New"/>
                <a:ea typeface="Courier New"/>
                <a:cs typeface="Courier New"/>
                <a:sym typeface="Courier New"/>
              </a:rPr>
              <a:t>[year] = [Select Year]</a:t>
            </a:r>
          </a:p>
        </p:txBody>
      </p:sp>
      <p:grpSp>
        <p:nvGrpSpPr>
          <p:cNvPr name="Group 13" id="13"/>
          <p:cNvGrpSpPr/>
          <p:nvPr/>
        </p:nvGrpSpPr>
        <p:grpSpPr>
          <a:xfrm rot="0">
            <a:off x="9518904" y="3291840"/>
            <a:ext cx="8174736" cy="3291840"/>
            <a:chOff x="0" y="0"/>
            <a:chExt cx="10899648" cy="4389120"/>
          </a:xfrm>
        </p:grpSpPr>
        <p:sp>
          <p:nvSpPr>
            <p:cNvPr name="Freeform 14" id="14"/>
            <p:cNvSpPr/>
            <p:nvPr/>
          </p:nvSpPr>
          <p:spPr>
            <a:xfrm flipH="false" flipV="false" rot="0">
              <a:off x="0" y="0"/>
              <a:ext cx="10899648" cy="4389120"/>
            </a:xfrm>
            <a:custGeom>
              <a:avLst/>
              <a:gdLst/>
              <a:ahLst/>
              <a:cxnLst/>
              <a:rect r="r" b="b" t="t" l="l"/>
              <a:pathLst>
                <a:path h="4389120" w="10899648">
                  <a:moveTo>
                    <a:pt x="0" y="146304"/>
                  </a:moveTo>
                  <a:cubicBezTo>
                    <a:pt x="0" y="65532"/>
                    <a:pt x="65532" y="0"/>
                    <a:pt x="146304" y="0"/>
                  </a:cubicBezTo>
                  <a:lnTo>
                    <a:pt x="10753344" y="0"/>
                  </a:lnTo>
                  <a:cubicBezTo>
                    <a:pt x="10834116" y="0"/>
                    <a:pt x="10899648" y="65532"/>
                    <a:pt x="10899648" y="146304"/>
                  </a:cubicBezTo>
                  <a:lnTo>
                    <a:pt x="10899648" y="4242816"/>
                  </a:lnTo>
                  <a:cubicBezTo>
                    <a:pt x="10899648" y="4323588"/>
                    <a:pt x="10834116" y="4389120"/>
                    <a:pt x="10753344" y="4389120"/>
                  </a:cubicBezTo>
                  <a:lnTo>
                    <a:pt x="146304" y="4389120"/>
                  </a:lnTo>
                  <a:cubicBezTo>
                    <a:pt x="65532" y="4389120"/>
                    <a:pt x="0" y="4323588"/>
                    <a:pt x="0" y="4242816"/>
                  </a:cubicBezTo>
                  <a:close/>
                </a:path>
              </a:pathLst>
            </a:custGeom>
            <a:solidFill>
              <a:srgbClr val="161B2C"/>
            </a:solidFill>
          </p:spPr>
        </p:sp>
      </p:grpSp>
      <p:grpSp>
        <p:nvGrpSpPr>
          <p:cNvPr name="Group 15" id="15"/>
          <p:cNvGrpSpPr/>
          <p:nvPr/>
        </p:nvGrpSpPr>
        <p:grpSpPr>
          <a:xfrm rot="0">
            <a:off x="9765792" y="3483864"/>
            <a:ext cx="7680960" cy="438912"/>
            <a:chOff x="0" y="0"/>
            <a:chExt cx="10241280" cy="585216"/>
          </a:xfrm>
        </p:grpSpPr>
        <p:sp>
          <p:nvSpPr>
            <p:cNvPr name="Freeform 16" id="16"/>
            <p:cNvSpPr/>
            <p:nvPr/>
          </p:nvSpPr>
          <p:spPr>
            <a:xfrm flipH="false" flipV="false" rot="0">
              <a:off x="0" y="0"/>
              <a:ext cx="10241280" cy="585216"/>
            </a:xfrm>
            <a:custGeom>
              <a:avLst/>
              <a:gdLst/>
              <a:ahLst/>
              <a:cxnLst/>
              <a:rect r="r" b="b" t="t" l="l"/>
              <a:pathLst>
                <a:path h="585216" w="10241280">
                  <a:moveTo>
                    <a:pt x="0" y="0"/>
                  </a:moveTo>
                  <a:lnTo>
                    <a:pt x="10241280" y="0"/>
                  </a:lnTo>
                  <a:lnTo>
                    <a:pt x="10241280" y="585216"/>
                  </a:lnTo>
                  <a:lnTo>
                    <a:pt x="0" y="585216"/>
                  </a:lnTo>
                  <a:close/>
                </a:path>
              </a:pathLst>
            </a:custGeom>
            <a:blipFill>
              <a:blip r:embed="rId3">
                <a:alphaModFix amt="0"/>
              </a:blip>
              <a:stretch>
                <a:fillRect l="0" t="-290988" r="0" b="-290988"/>
              </a:stretch>
            </a:blipFill>
          </p:spPr>
        </p:sp>
        <p:sp>
          <p:nvSpPr>
            <p:cNvPr name="TextBox 17" id="17"/>
            <p:cNvSpPr txBox="true"/>
            <p:nvPr/>
          </p:nvSpPr>
          <p:spPr>
            <a:xfrm>
              <a:off x="0" y="-38100"/>
              <a:ext cx="10241280" cy="623316"/>
            </a:xfrm>
            <a:prstGeom prst="rect">
              <a:avLst/>
            </a:prstGeom>
          </p:spPr>
          <p:txBody>
            <a:bodyPr anchor="ctr" rtlCol="false" tIns="0" lIns="0" bIns="0" rIns="0"/>
            <a:lstStyle/>
            <a:p>
              <a:pPr algn="l">
                <a:lnSpc>
                  <a:spcPts val="2070"/>
                </a:lnSpc>
              </a:pPr>
              <a:r>
                <a:rPr lang="en-US" sz="1725" b="true">
                  <a:solidFill>
                    <a:srgbClr val="1F9D8A"/>
                  </a:solidFill>
                  <a:latin typeface="Calibri (MS) Bold"/>
                  <a:ea typeface="Calibri (MS) Bold"/>
                  <a:cs typeface="Calibri (MS) Bold"/>
                  <a:sym typeface="Calibri (MS) Bold"/>
                </a:rPr>
                <a:t>Select Year / Top N</a:t>
              </a:r>
            </a:p>
          </p:txBody>
        </p:sp>
      </p:grpSp>
      <p:sp>
        <p:nvSpPr>
          <p:cNvPr name="TextBox 18" id="18"/>
          <p:cNvSpPr txBox="true"/>
          <p:nvPr/>
        </p:nvSpPr>
        <p:spPr>
          <a:xfrm rot="0">
            <a:off x="9765792" y="3912108"/>
            <a:ext cx="7680960" cy="2506980"/>
          </a:xfrm>
          <a:prstGeom prst="rect">
            <a:avLst/>
          </a:prstGeom>
        </p:spPr>
        <p:txBody>
          <a:bodyPr anchor="t" rtlCol="false" tIns="0" lIns="0" bIns="0" rIns="0">
            <a:spAutoFit/>
          </a:bodyPr>
          <a:lstStyle/>
          <a:p>
            <a:pPr algn="l">
              <a:lnSpc>
                <a:spcPts val="2052"/>
              </a:lnSpc>
            </a:pPr>
            <a:r>
              <a:rPr lang="en-US" sz="1425">
                <a:solidFill>
                  <a:srgbClr val="E4E4EC"/>
                </a:solidFill>
                <a:latin typeface="Courier New"/>
                <a:ea typeface="Courier New"/>
                <a:cs typeface="Courier New"/>
                <a:sym typeface="Courier New"/>
              </a:rPr>
              <a:t>Parameters driving the year filter</a:t>
            </a:r>
          </a:p>
          <a:p>
            <a:pPr algn="l">
              <a:lnSpc>
                <a:spcPts val="2052"/>
              </a:lnSpc>
            </a:pPr>
            <a:r>
              <a:rPr lang="en-US" sz="1425">
                <a:solidFill>
                  <a:srgbClr val="E4E4EC"/>
                </a:solidFill>
                <a:latin typeface="Courier New"/>
                <a:ea typeface="Courier New"/>
                <a:cs typeface="Courier New"/>
                <a:sym typeface="Courier New"/>
              </a:rPr>
              <a:t>and the Top-N state ranking</a:t>
            </a:r>
          </a:p>
          <a:p>
            <a:pPr algn="l">
              <a:lnSpc>
                <a:spcPts val="2052"/>
              </a:lnSpc>
            </a:pPr>
            <a:r>
              <a:rPr lang="en-US" sz="1425">
                <a:solidFill>
                  <a:srgbClr val="E4E4EC"/>
                </a:solidFill>
                <a:latin typeface="Courier New"/>
                <a:ea typeface="Courier New"/>
                <a:cs typeface="Courier New"/>
                <a:sym typeface="Courier New"/>
              </a:rPr>
              <a:t>dashboard-wide.</a:t>
            </a:r>
          </a:p>
        </p:txBody>
      </p:sp>
      <p:grpSp>
        <p:nvGrpSpPr>
          <p:cNvPr name="Group 19" id="19"/>
          <p:cNvGrpSpPr/>
          <p:nvPr/>
        </p:nvGrpSpPr>
        <p:grpSpPr>
          <a:xfrm rot="0">
            <a:off x="932688" y="6995160"/>
            <a:ext cx="15883128" cy="2125980"/>
            <a:chOff x="0" y="0"/>
            <a:chExt cx="21177504" cy="2834640"/>
          </a:xfrm>
        </p:grpSpPr>
        <p:sp>
          <p:nvSpPr>
            <p:cNvPr name="Freeform 20" id="20"/>
            <p:cNvSpPr/>
            <p:nvPr/>
          </p:nvSpPr>
          <p:spPr>
            <a:xfrm flipH="false" flipV="false" rot="0">
              <a:off x="0" y="0"/>
              <a:ext cx="21177504" cy="2834640"/>
            </a:xfrm>
            <a:custGeom>
              <a:avLst/>
              <a:gdLst/>
              <a:ahLst/>
              <a:cxnLst/>
              <a:rect r="r" b="b" t="t" l="l"/>
              <a:pathLst>
                <a:path h="2834640" w="21177504">
                  <a:moveTo>
                    <a:pt x="0" y="146304"/>
                  </a:moveTo>
                  <a:cubicBezTo>
                    <a:pt x="0" y="65532"/>
                    <a:pt x="65532" y="0"/>
                    <a:pt x="146304" y="0"/>
                  </a:cubicBezTo>
                  <a:lnTo>
                    <a:pt x="21031200" y="0"/>
                  </a:lnTo>
                  <a:cubicBezTo>
                    <a:pt x="21111972" y="0"/>
                    <a:pt x="21177504" y="65532"/>
                    <a:pt x="21177504" y="146304"/>
                  </a:cubicBezTo>
                  <a:lnTo>
                    <a:pt x="21177504" y="2688336"/>
                  </a:lnTo>
                  <a:cubicBezTo>
                    <a:pt x="21177504" y="2769108"/>
                    <a:pt x="21111972" y="2834640"/>
                    <a:pt x="21031200" y="2834640"/>
                  </a:cubicBezTo>
                  <a:lnTo>
                    <a:pt x="146304" y="2834640"/>
                  </a:lnTo>
                  <a:cubicBezTo>
                    <a:pt x="65532" y="2834640"/>
                    <a:pt x="0" y="2769108"/>
                    <a:pt x="0" y="2688336"/>
                  </a:cubicBezTo>
                  <a:close/>
                </a:path>
              </a:pathLst>
            </a:custGeom>
            <a:solidFill>
              <a:srgbClr val="F4F5F7"/>
            </a:solidFill>
          </p:spPr>
        </p:sp>
      </p:grpSp>
      <p:grpSp>
        <p:nvGrpSpPr>
          <p:cNvPr name="Group 21" id="21"/>
          <p:cNvGrpSpPr/>
          <p:nvPr/>
        </p:nvGrpSpPr>
        <p:grpSpPr>
          <a:xfrm rot="0">
            <a:off x="1152144" y="7187184"/>
            <a:ext cx="685800" cy="548640"/>
            <a:chOff x="0" y="0"/>
            <a:chExt cx="914400" cy="731520"/>
          </a:xfrm>
        </p:grpSpPr>
        <p:sp>
          <p:nvSpPr>
            <p:cNvPr name="Freeform 22" id="22"/>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23" id="23"/>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24" id="24"/>
          <p:cNvSpPr txBox="true"/>
          <p:nvPr/>
        </p:nvSpPr>
        <p:spPr>
          <a:xfrm rot="0">
            <a:off x="1152144" y="7671435"/>
            <a:ext cx="15444216" cy="558165"/>
          </a:xfrm>
          <a:prstGeom prst="rect">
            <a:avLst/>
          </a:prstGeom>
        </p:spPr>
        <p:txBody>
          <a:bodyPr anchor="t" rtlCol="false" tIns="0" lIns="0" bIns="0" rIns="0">
            <a:spAutoFit/>
          </a:bodyPr>
          <a:lstStyle/>
          <a:p>
            <a:pPr algn="l">
              <a:lnSpc>
                <a:spcPts val="2250"/>
              </a:lnSpc>
            </a:pPr>
            <a:r>
              <a:rPr lang="en-US" b="true" sz="1875" spc="14">
                <a:solidFill>
                  <a:srgbClr val="C23B3B"/>
                </a:solidFill>
                <a:latin typeface="TT Phobos Bold"/>
                <a:ea typeface="TT Phobos Bold"/>
                <a:cs typeface="TT Phobos Bold"/>
                <a:sym typeface="TT Phobos Bold"/>
              </a:rPr>
              <a:t>Why Only Two</a:t>
            </a:r>
          </a:p>
        </p:txBody>
      </p:sp>
      <p:sp>
        <p:nvSpPr>
          <p:cNvPr name="TextBox 25" id="25"/>
          <p:cNvSpPr txBox="true"/>
          <p:nvPr/>
        </p:nvSpPr>
        <p:spPr>
          <a:xfrm rot="0">
            <a:off x="1152144" y="8209407"/>
            <a:ext cx="15444216" cy="719709"/>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Every other chart in this dashboard runs on native Tableau aggregations (SUM, COUNT) with no custom logic needed. YearMatch is the one field that had to be hand-built and reused — it's what fixed three charts that were silently ignoring the Select Year parameter. Select Year and Top N are the two parameters that make the whole dashboard interactive rather than a fixed snapshot.</a:t>
            </a:r>
          </a:p>
        </p:txBody>
      </p:sp>
      <p:sp>
        <p:nvSpPr>
          <p:cNvPr name="TextBox 26" id="26"/>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KEY INSIGHTS</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Crime Overview &amp; State Hotspots</a:t>
            </a:r>
          </a:p>
        </p:txBody>
      </p:sp>
      <p:grpSp>
        <p:nvGrpSpPr>
          <p:cNvPr name="Group 7" id="7"/>
          <p:cNvGrpSpPr/>
          <p:nvPr/>
        </p:nvGrpSpPr>
        <p:grpSpPr>
          <a:xfrm rot="0">
            <a:off x="932688" y="2194560"/>
            <a:ext cx="3771900" cy="1303020"/>
            <a:chOff x="0" y="0"/>
            <a:chExt cx="5029200" cy="1737360"/>
          </a:xfrm>
        </p:grpSpPr>
        <p:sp>
          <p:nvSpPr>
            <p:cNvPr name="Freeform 8" id="8"/>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9" id="9"/>
          <p:cNvGrpSpPr/>
          <p:nvPr/>
        </p:nvGrpSpPr>
        <p:grpSpPr>
          <a:xfrm rot="0">
            <a:off x="1097280" y="2359152"/>
            <a:ext cx="3442716" cy="716661"/>
            <a:chOff x="0" y="0"/>
            <a:chExt cx="4590288" cy="955548"/>
          </a:xfrm>
        </p:grpSpPr>
        <p:sp>
          <p:nvSpPr>
            <p:cNvPr name="Freeform 10" id="10"/>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11" id="11"/>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62.4L</a:t>
              </a:r>
            </a:p>
          </p:txBody>
        </p:sp>
      </p:grpSp>
      <p:grpSp>
        <p:nvGrpSpPr>
          <p:cNvPr name="Group 12" id="12"/>
          <p:cNvGrpSpPr/>
          <p:nvPr/>
        </p:nvGrpSpPr>
        <p:grpSpPr>
          <a:xfrm rot="0">
            <a:off x="1097280" y="2976372"/>
            <a:ext cx="3442716" cy="456057"/>
            <a:chOff x="0" y="0"/>
            <a:chExt cx="4590288" cy="608076"/>
          </a:xfrm>
        </p:grpSpPr>
        <p:sp>
          <p:nvSpPr>
            <p:cNvPr name="Freeform 13" id="13"/>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14" id="14"/>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Total Crime (6,241,569)</a:t>
              </a:r>
            </a:p>
          </p:txBody>
        </p:sp>
      </p:grpSp>
      <p:grpSp>
        <p:nvGrpSpPr>
          <p:cNvPr name="Group 15" id="15"/>
          <p:cNvGrpSpPr/>
          <p:nvPr/>
        </p:nvGrpSpPr>
        <p:grpSpPr>
          <a:xfrm rot="0">
            <a:off x="4978908" y="2194560"/>
            <a:ext cx="3771900" cy="1303020"/>
            <a:chOff x="0" y="0"/>
            <a:chExt cx="5029200" cy="1737360"/>
          </a:xfrm>
        </p:grpSpPr>
        <p:sp>
          <p:nvSpPr>
            <p:cNvPr name="Freeform 16" id="16"/>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17" id="17"/>
          <p:cNvGrpSpPr/>
          <p:nvPr/>
        </p:nvGrpSpPr>
        <p:grpSpPr>
          <a:xfrm rot="0">
            <a:off x="5143500" y="2359152"/>
            <a:ext cx="3442716" cy="716661"/>
            <a:chOff x="0" y="0"/>
            <a:chExt cx="4590288" cy="955548"/>
          </a:xfrm>
        </p:grpSpPr>
        <p:sp>
          <p:nvSpPr>
            <p:cNvPr name="Freeform 18" id="18"/>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19" id="19"/>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+7.2%</a:t>
              </a:r>
            </a:p>
          </p:txBody>
        </p:sp>
      </p:grpSp>
      <p:grpSp>
        <p:nvGrpSpPr>
          <p:cNvPr name="Group 20" id="20"/>
          <p:cNvGrpSpPr/>
          <p:nvPr/>
        </p:nvGrpSpPr>
        <p:grpSpPr>
          <a:xfrm rot="0">
            <a:off x="5143500" y="2976372"/>
            <a:ext cx="3442716" cy="456057"/>
            <a:chOff x="0" y="0"/>
            <a:chExt cx="4590288" cy="608076"/>
          </a:xfrm>
        </p:grpSpPr>
        <p:sp>
          <p:nvSpPr>
            <p:cNvPr name="Freeform 21" id="21"/>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22" id="22"/>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YoY Growth</a:t>
              </a:r>
            </a:p>
          </p:txBody>
        </p:sp>
      </p:grpSp>
      <p:grpSp>
        <p:nvGrpSpPr>
          <p:cNvPr name="Group 23" id="23"/>
          <p:cNvGrpSpPr/>
          <p:nvPr/>
        </p:nvGrpSpPr>
        <p:grpSpPr>
          <a:xfrm rot="0">
            <a:off x="9025128" y="2194560"/>
            <a:ext cx="3771900" cy="1303020"/>
            <a:chOff x="0" y="0"/>
            <a:chExt cx="5029200" cy="1737360"/>
          </a:xfrm>
        </p:grpSpPr>
        <p:sp>
          <p:nvSpPr>
            <p:cNvPr name="Freeform 24" id="24"/>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25" id="25"/>
          <p:cNvGrpSpPr/>
          <p:nvPr/>
        </p:nvGrpSpPr>
        <p:grpSpPr>
          <a:xfrm rot="0">
            <a:off x="9189720" y="2359152"/>
            <a:ext cx="3442716" cy="716661"/>
            <a:chOff x="0" y="0"/>
            <a:chExt cx="4590288" cy="955548"/>
          </a:xfrm>
        </p:grpSpPr>
        <p:sp>
          <p:nvSpPr>
            <p:cNvPr name="Freeform 26" id="26"/>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27" id="27"/>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86,420</a:t>
              </a:r>
            </a:p>
          </p:txBody>
        </p:sp>
      </p:grpSp>
      <p:grpSp>
        <p:nvGrpSpPr>
          <p:cNvPr name="Group 28" id="28"/>
          <p:cNvGrpSpPr/>
          <p:nvPr/>
        </p:nvGrpSpPr>
        <p:grpSpPr>
          <a:xfrm rot="0">
            <a:off x="9189720" y="2976372"/>
            <a:ext cx="3442716" cy="456057"/>
            <a:chOff x="0" y="0"/>
            <a:chExt cx="4590288" cy="608076"/>
          </a:xfrm>
        </p:grpSpPr>
        <p:sp>
          <p:nvSpPr>
            <p:cNvPr name="Freeform 29" id="29"/>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30" id="30"/>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Cyber Crime Cases</a:t>
              </a:r>
            </a:p>
          </p:txBody>
        </p:sp>
      </p:grpSp>
      <p:grpSp>
        <p:nvGrpSpPr>
          <p:cNvPr name="Group 31" id="31"/>
          <p:cNvGrpSpPr/>
          <p:nvPr/>
        </p:nvGrpSpPr>
        <p:grpSpPr>
          <a:xfrm rot="0">
            <a:off x="13071348" y="2194560"/>
            <a:ext cx="3771900" cy="1303020"/>
            <a:chOff x="0" y="0"/>
            <a:chExt cx="5029200" cy="1737360"/>
          </a:xfrm>
        </p:grpSpPr>
        <p:sp>
          <p:nvSpPr>
            <p:cNvPr name="Freeform 32" id="32"/>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33" id="33"/>
          <p:cNvGrpSpPr/>
          <p:nvPr/>
        </p:nvGrpSpPr>
        <p:grpSpPr>
          <a:xfrm rot="0">
            <a:off x="13235940" y="2359152"/>
            <a:ext cx="3442716" cy="716661"/>
            <a:chOff x="0" y="0"/>
            <a:chExt cx="4590288" cy="955548"/>
          </a:xfrm>
        </p:grpSpPr>
        <p:sp>
          <p:nvSpPr>
            <p:cNvPr name="Freeform 34" id="34"/>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35" id="35"/>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27,721</a:t>
              </a:r>
            </a:p>
          </p:txBody>
        </p:sp>
      </p:grpSp>
      <p:grpSp>
        <p:nvGrpSpPr>
          <p:cNvPr name="Group 36" id="36"/>
          <p:cNvGrpSpPr/>
          <p:nvPr/>
        </p:nvGrpSpPr>
        <p:grpSpPr>
          <a:xfrm rot="0">
            <a:off x="13235940" y="2976372"/>
            <a:ext cx="3442716" cy="456057"/>
            <a:chOff x="0" y="0"/>
            <a:chExt cx="4590288" cy="608076"/>
          </a:xfrm>
        </p:grpSpPr>
        <p:sp>
          <p:nvSpPr>
            <p:cNvPr name="Freeform 37" id="37"/>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38" id="38"/>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Murder Cases</a:t>
              </a:r>
            </a:p>
          </p:txBody>
        </p:sp>
      </p:grpSp>
      <p:grpSp>
        <p:nvGrpSpPr>
          <p:cNvPr name="Group 39" id="39"/>
          <p:cNvGrpSpPr/>
          <p:nvPr/>
        </p:nvGrpSpPr>
        <p:grpSpPr>
          <a:xfrm rot="0">
            <a:off x="932688" y="3813048"/>
            <a:ext cx="8174736" cy="2441448"/>
            <a:chOff x="0" y="0"/>
            <a:chExt cx="10899648" cy="3255264"/>
          </a:xfrm>
        </p:grpSpPr>
        <p:sp>
          <p:nvSpPr>
            <p:cNvPr name="Freeform 40" id="40"/>
            <p:cNvSpPr/>
            <p:nvPr/>
          </p:nvSpPr>
          <p:spPr>
            <a:xfrm flipH="false" flipV="false" rot="0">
              <a:off x="0" y="0"/>
              <a:ext cx="10899648" cy="3255264"/>
            </a:xfrm>
            <a:custGeom>
              <a:avLst/>
              <a:gdLst/>
              <a:ahLst/>
              <a:cxnLst/>
              <a:rect r="r" b="b" t="t" l="l"/>
              <a:pathLst>
                <a:path h="3255264" w="10899648">
                  <a:moveTo>
                    <a:pt x="0" y="146304"/>
                  </a:moveTo>
                  <a:cubicBezTo>
                    <a:pt x="0" y="65532"/>
                    <a:pt x="65532" y="0"/>
                    <a:pt x="146304" y="0"/>
                  </a:cubicBezTo>
                  <a:lnTo>
                    <a:pt x="10753344" y="0"/>
                  </a:lnTo>
                  <a:cubicBezTo>
                    <a:pt x="10834116" y="0"/>
                    <a:pt x="10899648" y="65532"/>
                    <a:pt x="10899648" y="146304"/>
                  </a:cubicBezTo>
                  <a:lnTo>
                    <a:pt x="10899648" y="3108960"/>
                  </a:lnTo>
                  <a:cubicBezTo>
                    <a:pt x="10899648" y="3189732"/>
                    <a:pt x="10834116" y="3255264"/>
                    <a:pt x="10753344" y="3255264"/>
                  </a:cubicBezTo>
                  <a:lnTo>
                    <a:pt x="146304" y="3255264"/>
                  </a:lnTo>
                  <a:cubicBezTo>
                    <a:pt x="65532" y="3255264"/>
                    <a:pt x="0" y="3189732"/>
                    <a:pt x="0" y="3108960"/>
                  </a:cubicBezTo>
                  <a:close/>
                </a:path>
              </a:pathLst>
            </a:custGeom>
            <a:solidFill>
              <a:srgbClr val="F4F5F7"/>
            </a:solidFill>
          </p:spPr>
        </p:sp>
      </p:grpSp>
      <p:grpSp>
        <p:nvGrpSpPr>
          <p:cNvPr name="Group 41" id="41"/>
          <p:cNvGrpSpPr/>
          <p:nvPr/>
        </p:nvGrpSpPr>
        <p:grpSpPr>
          <a:xfrm rot="0">
            <a:off x="1152144" y="4005072"/>
            <a:ext cx="685800" cy="548640"/>
            <a:chOff x="0" y="0"/>
            <a:chExt cx="914400" cy="731520"/>
          </a:xfrm>
        </p:grpSpPr>
        <p:sp>
          <p:nvSpPr>
            <p:cNvPr name="Freeform 42" id="42"/>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43" id="43"/>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44" id="44"/>
          <p:cNvSpPr txBox="true"/>
          <p:nvPr/>
        </p:nvSpPr>
        <p:spPr>
          <a:xfrm rot="0">
            <a:off x="1152144" y="4489323"/>
            <a:ext cx="7735824" cy="55816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Uttar Pradesh Leads by a Wide Margin</a:t>
            </a:r>
          </a:p>
        </p:txBody>
      </p:sp>
      <p:sp>
        <p:nvSpPr>
          <p:cNvPr name="TextBox 45" id="45"/>
          <p:cNvSpPr txBox="true"/>
          <p:nvPr/>
        </p:nvSpPr>
        <p:spPr>
          <a:xfrm rot="0">
            <a:off x="1152144" y="5027295"/>
            <a:ext cx="7735824"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793,020 cases — nearly 33% more than #2 Maharashtra (596,103).</a:t>
            </a:r>
          </a:p>
        </p:txBody>
      </p:sp>
      <p:grpSp>
        <p:nvGrpSpPr>
          <p:cNvPr name="Group 46" id="46"/>
          <p:cNvGrpSpPr/>
          <p:nvPr/>
        </p:nvGrpSpPr>
        <p:grpSpPr>
          <a:xfrm rot="0">
            <a:off x="9354312" y="3813048"/>
            <a:ext cx="8174736" cy="2441448"/>
            <a:chOff x="0" y="0"/>
            <a:chExt cx="10899648" cy="3255264"/>
          </a:xfrm>
        </p:grpSpPr>
        <p:sp>
          <p:nvSpPr>
            <p:cNvPr name="Freeform 47" id="47"/>
            <p:cNvSpPr/>
            <p:nvPr/>
          </p:nvSpPr>
          <p:spPr>
            <a:xfrm flipH="false" flipV="false" rot="0">
              <a:off x="0" y="0"/>
              <a:ext cx="10899648" cy="3255264"/>
            </a:xfrm>
            <a:custGeom>
              <a:avLst/>
              <a:gdLst/>
              <a:ahLst/>
              <a:cxnLst/>
              <a:rect r="r" b="b" t="t" l="l"/>
              <a:pathLst>
                <a:path h="3255264" w="10899648">
                  <a:moveTo>
                    <a:pt x="0" y="146304"/>
                  </a:moveTo>
                  <a:cubicBezTo>
                    <a:pt x="0" y="65532"/>
                    <a:pt x="65532" y="0"/>
                    <a:pt x="146304" y="0"/>
                  </a:cubicBezTo>
                  <a:lnTo>
                    <a:pt x="10753344" y="0"/>
                  </a:lnTo>
                  <a:cubicBezTo>
                    <a:pt x="10834116" y="0"/>
                    <a:pt x="10899648" y="65532"/>
                    <a:pt x="10899648" y="146304"/>
                  </a:cubicBezTo>
                  <a:lnTo>
                    <a:pt x="10899648" y="3108960"/>
                  </a:lnTo>
                  <a:cubicBezTo>
                    <a:pt x="10899648" y="3189732"/>
                    <a:pt x="10834116" y="3255264"/>
                    <a:pt x="10753344" y="3255264"/>
                  </a:cubicBezTo>
                  <a:lnTo>
                    <a:pt x="146304" y="3255264"/>
                  </a:lnTo>
                  <a:cubicBezTo>
                    <a:pt x="65532" y="3255264"/>
                    <a:pt x="0" y="3189732"/>
                    <a:pt x="0" y="3108960"/>
                  </a:cubicBezTo>
                  <a:close/>
                </a:path>
              </a:pathLst>
            </a:custGeom>
            <a:solidFill>
              <a:srgbClr val="F4F5F7"/>
            </a:solidFill>
          </p:spPr>
        </p:sp>
      </p:grpSp>
      <p:grpSp>
        <p:nvGrpSpPr>
          <p:cNvPr name="Group 48" id="48"/>
          <p:cNvGrpSpPr/>
          <p:nvPr/>
        </p:nvGrpSpPr>
        <p:grpSpPr>
          <a:xfrm rot="0">
            <a:off x="9573768" y="4005072"/>
            <a:ext cx="685800" cy="548640"/>
            <a:chOff x="0" y="0"/>
            <a:chExt cx="914400" cy="731520"/>
          </a:xfrm>
        </p:grpSpPr>
        <p:sp>
          <p:nvSpPr>
            <p:cNvPr name="Freeform 49" id="49"/>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50" id="50"/>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51" id="51"/>
          <p:cNvSpPr txBox="true"/>
          <p:nvPr/>
        </p:nvSpPr>
        <p:spPr>
          <a:xfrm rot="0">
            <a:off x="9573768" y="4489323"/>
            <a:ext cx="7735824" cy="558165"/>
          </a:xfrm>
          <a:prstGeom prst="rect">
            <a:avLst/>
          </a:prstGeom>
        </p:spPr>
        <p:txBody>
          <a:bodyPr anchor="t" rtlCol="false" tIns="0" lIns="0" bIns="0" rIns="0">
            <a:spAutoFit/>
          </a:bodyPr>
          <a:lstStyle/>
          <a:p>
            <a:pPr algn="l">
              <a:lnSpc>
                <a:spcPts val="2250"/>
              </a:lnSpc>
            </a:pPr>
            <a:r>
              <a:rPr lang="en-US" b="true" sz="1875" spc="14">
                <a:solidFill>
                  <a:srgbClr val="1F9D8A"/>
                </a:solidFill>
                <a:latin typeface="TT Phobos Bold"/>
                <a:ea typeface="TT Phobos Bold"/>
                <a:cs typeface="TT Phobos Bold"/>
                <a:sym typeface="TT Phobos Bold"/>
              </a:rPr>
              <a:t>A Clear COVID Anomaly</a:t>
            </a:r>
          </a:p>
        </p:txBody>
      </p:sp>
      <p:sp>
        <p:nvSpPr>
          <p:cNvPr name="TextBox 52" id="52"/>
          <p:cNvSpPr txBox="true"/>
          <p:nvPr/>
        </p:nvSpPr>
        <p:spPr>
          <a:xfrm rot="0">
            <a:off x="9573768" y="5027295"/>
            <a:ext cx="7735824"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2020 recorded a one-time spike to 14.2M cases tied to lockdown-era reporting.</a:t>
            </a:r>
          </a:p>
        </p:txBody>
      </p:sp>
      <p:grpSp>
        <p:nvGrpSpPr>
          <p:cNvPr name="Group 53" id="53"/>
          <p:cNvGrpSpPr/>
          <p:nvPr/>
        </p:nvGrpSpPr>
        <p:grpSpPr>
          <a:xfrm rot="0">
            <a:off x="932688" y="6487668"/>
            <a:ext cx="8174736" cy="2441448"/>
            <a:chOff x="0" y="0"/>
            <a:chExt cx="10899648" cy="3255264"/>
          </a:xfrm>
        </p:grpSpPr>
        <p:sp>
          <p:nvSpPr>
            <p:cNvPr name="Freeform 54" id="54"/>
            <p:cNvSpPr/>
            <p:nvPr/>
          </p:nvSpPr>
          <p:spPr>
            <a:xfrm flipH="false" flipV="false" rot="0">
              <a:off x="0" y="0"/>
              <a:ext cx="10899648" cy="3255264"/>
            </a:xfrm>
            <a:custGeom>
              <a:avLst/>
              <a:gdLst/>
              <a:ahLst/>
              <a:cxnLst/>
              <a:rect r="r" b="b" t="t" l="l"/>
              <a:pathLst>
                <a:path h="3255264" w="10899648">
                  <a:moveTo>
                    <a:pt x="0" y="146304"/>
                  </a:moveTo>
                  <a:cubicBezTo>
                    <a:pt x="0" y="65532"/>
                    <a:pt x="65532" y="0"/>
                    <a:pt x="146304" y="0"/>
                  </a:cubicBezTo>
                  <a:lnTo>
                    <a:pt x="10753344" y="0"/>
                  </a:lnTo>
                  <a:cubicBezTo>
                    <a:pt x="10834116" y="0"/>
                    <a:pt x="10899648" y="65532"/>
                    <a:pt x="10899648" y="146304"/>
                  </a:cubicBezTo>
                  <a:lnTo>
                    <a:pt x="10899648" y="3108960"/>
                  </a:lnTo>
                  <a:cubicBezTo>
                    <a:pt x="10899648" y="3189732"/>
                    <a:pt x="10834116" y="3255264"/>
                    <a:pt x="10753344" y="3255264"/>
                  </a:cubicBezTo>
                  <a:lnTo>
                    <a:pt x="146304" y="3255264"/>
                  </a:lnTo>
                  <a:cubicBezTo>
                    <a:pt x="65532" y="3255264"/>
                    <a:pt x="0" y="3189732"/>
                    <a:pt x="0" y="3108960"/>
                  </a:cubicBezTo>
                  <a:close/>
                </a:path>
              </a:pathLst>
            </a:custGeom>
            <a:solidFill>
              <a:srgbClr val="F4F5F7"/>
            </a:solidFill>
          </p:spPr>
        </p:sp>
      </p:grpSp>
      <p:grpSp>
        <p:nvGrpSpPr>
          <p:cNvPr name="Group 55" id="55"/>
          <p:cNvGrpSpPr/>
          <p:nvPr/>
        </p:nvGrpSpPr>
        <p:grpSpPr>
          <a:xfrm rot="0">
            <a:off x="1152144" y="6679692"/>
            <a:ext cx="685800" cy="548640"/>
            <a:chOff x="0" y="0"/>
            <a:chExt cx="914400" cy="731520"/>
          </a:xfrm>
        </p:grpSpPr>
        <p:sp>
          <p:nvSpPr>
            <p:cNvPr name="Freeform 56" id="56"/>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57" id="57"/>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58" id="58"/>
          <p:cNvSpPr txBox="true"/>
          <p:nvPr/>
        </p:nvSpPr>
        <p:spPr>
          <a:xfrm rot="0">
            <a:off x="1152144" y="7163943"/>
            <a:ext cx="7735824" cy="558165"/>
          </a:xfrm>
          <a:prstGeom prst="rect">
            <a:avLst/>
          </a:prstGeom>
        </p:spPr>
        <p:txBody>
          <a:bodyPr anchor="t" rtlCol="false" tIns="0" lIns="0" bIns="0" rIns="0">
            <a:spAutoFit/>
          </a:bodyPr>
          <a:lstStyle/>
          <a:p>
            <a:pPr algn="l">
              <a:lnSpc>
                <a:spcPts val="2250"/>
              </a:lnSpc>
            </a:pPr>
            <a:r>
              <a:rPr lang="en-US" b="true" sz="1875" spc="14">
                <a:solidFill>
                  <a:srgbClr val="C23B3B"/>
                </a:solidFill>
                <a:latin typeface="TT Phobos Bold"/>
                <a:ea typeface="TT Phobos Bold"/>
                <a:cs typeface="TT Phobos Bold"/>
                <a:sym typeface="TT Phobos Bold"/>
              </a:rPr>
              <a:t>Top 5 States Dominate Volume</a:t>
            </a:r>
          </a:p>
        </p:txBody>
      </p:sp>
      <p:sp>
        <p:nvSpPr>
          <p:cNvPr name="TextBox 59" id="59"/>
          <p:cNvSpPr txBox="true"/>
          <p:nvPr/>
        </p:nvSpPr>
        <p:spPr>
          <a:xfrm rot="0">
            <a:off x="1152144" y="7701915"/>
            <a:ext cx="7735824"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UP, Maharashtra, Kerala, Gujarat and Tamil Nadu together carry the bulk of national cases.</a:t>
            </a:r>
          </a:p>
        </p:txBody>
      </p:sp>
      <p:grpSp>
        <p:nvGrpSpPr>
          <p:cNvPr name="Group 60" id="60"/>
          <p:cNvGrpSpPr/>
          <p:nvPr/>
        </p:nvGrpSpPr>
        <p:grpSpPr>
          <a:xfrm rot="0">
            <a:off x="9354312" y="6487668"/>
            <a:ext cx="8174736" cy="2441448"/>
            <a:chOff x="0" y="0"/>
            <a:chExt cx="10899648" cy="3255264"/>
          </a:xfrm>
        </p:grpSpPr>
        <p:sp>
          <p:nvSpPr>
            <p:cNvPr name="Freeform 61" id="61"/>
            <p:cNvSpPr/>
            <p:nvPr/>
          </p:nvSpPr>
          <p:spPr>
            <a:xfrm flipH="false" flipV="false" rot="0">
              <a:off x="0" y="0"/>
              <a:ext cx="10899648" cy="3255264"/>
            </a:xfrm>
            <a:custGeom>
              <a:avLst/>
              <a:gdLst/>
              <a:ahLst/>
              <a:cxnLst/>
              <a:rect r="r" b="b" t="t" l="l"/>
              <a:pathLst>
                <a:path h="3255264" w="10899648">
                  <a:moveTo>
                    <a:pt x="0" y="146304"/>
                  </a:moveTo>
                  <a:cubicBezTo>
                    <a:pt x="0" y="65532"/>
                    <a:pt x="65532" y="0"/>
                    <a:pt x="146304" y="0"/>
                  </a:cubicBezTo>
                  <a:lnTo>
                    <a:pt x="10753344" y="0"/>
                  </a:lnTo>
                  <a:cubicBezTo>
                    <a:pt x="10834116" y="0"/>
                    <a:pt x="10899648" y="65532"/>
                    <a:pt x="10899648" y="146304"/>
                  </a:cubicBezTo>
                  <a:lnTo>
                    <a:pt x="10899648" y="3108960"/>
                  </a:lnTo>
                  <a:cubicBezTo>
                    <a:pt x="10899648" y="3189732"/>
                    <a:pt x="10834116" y="3255264"/>
                    <a:pt x="10753344" y="3255264"/>
                  </a:cubicBezTo>
                  <a:lnTo>
                    <a:pt x="146304" y="3255264"/>
                  </a:lnTo>
                  <a:cubicBezTo>
                    <a:pt x="65532" y="3255264"/>
                    <a:pt x="0" y="3189732"/>
                    <a:pt x="0" y="3108960"/>
                  </a:cubicBezTo>
                  <a:close/>
                </a:path>
              </a:pathLst>
            </a:custGeom>
            <a:solidFill>
              <a:srgbClr val="F4F5F7"/>
            </a:solidFill>
          </p:spPr>
        </p:sp>
      </p:grpSp>
      <p:grpSp>
        <p:nvGrpSpPr>
          <p:cNvPr name="Group 62" id="62"/>
          <p:cNvGrpSpPr/>
          <p:nvPr/>
        </p:nvGrpSpPr>
        <p:grpSpPr>
          <a:xfrm rot="0">
            <a:off x="9573768" y="6679692"/>
            <a:ext cx="685800" cy="548640"/>
            <a:chOff x="0" y="0"/>
            <a:chExt cx="914400" cy="731520"/>
          </a:xfrm>
        </p:grpSpPr>
        <p:sp>
          <p:nvSpPr>
            <p:cNvPr name="Freeform 63" id="63"/>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64" id="64"/>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65" id="65"/>
          <p:cNvSpPr txBox="true"/>
          <p:nvPr/>
        </p:nvSpPr>
        <p:spPr>
          <a:xfrm rot="0">
            <a:off x="9573768" y="7163943"/>
            <a:ext cx="7735824" cy="55816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Crime Against Women is the Largest Domain</a:t>
            </a:r>
          </a:p>
        </p:txBody>
      </p:sp>
      <p:sp>
        <p:nvSpPr>
          <p:cNvPr name="TextBox 66" id="66"/>
          <p:cNvSpPr txBox="true"/>
          <p:nvPr/>
        </p:nvSpPr>
        <p:spPr>
          <a:xfrm rot="0">
            <a:off x="9573768" y="7701915"/>
            <a:ext cx="7735824"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448,211 cases — the single biggest category after general cheating offences.</a:t>
            </a:r>
          </a:p>
        </p:txBody>
      </p:sp>
      <p:grpSp>
        <p:nvGrpSpPr>
          <p:cNvPr name="Group 67" id="67"/>
          <p:cNvGrpSpPr/>
          <p:nvPr/>
        </p:nvGrpSpPr>
        <p:grpSpPr>
          <a:xfrm rot="0">
            <a:off x="932688" y="9258300"/>
            <a:ext cx="15636240" cy="411480"/>
            <a:chOff x="0" y="0"/>
            <a:chExt cx="20848320" cy="548640"/>
          </a:xfrm>
        </p:grpSpPr>
        <p:sp>
          <p:nvSpPr>
            <p:cNvPr name="Freeform 68" id="68"/>
            <p:cNvSpPr/>
            <p:nvPr/>
          </p:nvSpPr>
          <p:spPr>
            <a:xfrm flipH="false" flipV="false" rot="0">
              <a:off x="0" y="0"/>
              <a:ext cx="20848320" cy="548640"/>
            </a:xfrm>
            <a:custGeom>
              <a:avLst/>
              <a:gdLst/>
              <a:ahLst/>
              <a:cxnLst/>
              <a:rect r="r" b="b" t="t" l="l"/>
              <a:pathLst>
                <a:path h="548640" w="20848320">
                  <a:moveTo>
                    <a:pt x="0" y="0"/>
                  </a:moveTo>
                  <a:lnTo>
                    <a:pt x="20848320" y="0"/>
                  </a:lnTo>
                  <a:lnTo>
                    <a:pt x="20848320" y="548640"/>
                  </a:lnTo>
                  <a:lnTo>
                    <a:pt x="0" y="548640"/>
                  </a:lnTo>
                  <a:close/>
                </a:path>
              </a:pathLst>
            </a:custGeom>
            <a:blipFill>
              <a:blip r:embed="rId3">
                <a:alphaModFix amt="0"/>
              </a:blip>
              <a:stretch>
                <a:fillRect l="0" t="-690431" r="0" b="-690431"/>
              </a:stretch>
            </a:blipFill>
          </p:spPr>
        </p:sp>
        <p:sp>
          <p:nvSpPr>
            <p:cNvPr name="TextBox 69" id="69"/>
            <p:cNvSpPr txBox="true"/>
            <p:nvPr/>
          </p:nvSpPr>
          <p:spPr>
            <a:xfrm>
              <a:off x="0" y="-38100"/>
              <a:ext cx="20848320" cy="586740"/>
            </a:xfrm>
            <a:prstGeom prst="rect">
              <a:avLst/>
            </a:prstGeom>
          </p:spPr>
          <p:txBody>
            <a:bodyPr anchor="ctr" rtlCol="false" tIns="0" lIns="0" bIns="0" rIns="0"/>
            <a:lstStyle/>
            <a:p>
              <a:pPr algn="l">
                <a:lnSpc>
                  <a:spcPts val="1709"/>
                </a:lnSpc>
              </a:pPr>
              <a:r>
                <a:rPr lang="en-US" sz="1425" i="true">
                  <a:solidFill>
                    <a:srgbClr val="6B7280"/>
                  </a:solidFill>
                  <a:latin typeface="Calibri (MS) Italics"/>
                  <a:ea typeface="Calibri (MS) Italics"/>
                  <a:cs typeface="Calibri (MS) Italics"/>
                  <a:sym typeface="Calibri (MS) Italics"/>
                </a:rPr>
                <a:t>Figures reflect the 2015–2024 dataset filtered to the dashboard's default year.</a:t>
              </a:r>
            </a:p>
          </p:txBody>
        </p:sp>
      </p:grpSp>
      <p:sp>
        <p:nvSpPr>
          <p:cNvPr name="TextBox 70" id="70"/>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KEY INSIGHTS</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Cyber Crime Growth &amp; Legal Categories</a:t>
            </a:r>
          </a:p>
        </p:txBody>
      </p:sp>
      <p:grpSp>
        <p:nvGrpSpPr>
          <p:cNvPr name="Group 7" id="7"/>
          <p:cNvGrpSpPr/>
          <p:nvPr/>
        </p:nvGrpSpPr>
        <p:grpSpPr>
          <a:xfrm rot="0">
            <a:off x="932688" y="2194560"/>
            <a:ext cx="3771900" cy="1303020"/>
            <a:chOff x="0" y="0"/>
            <a:chExt cx="5029200" cy="1737360"/>
          </a:xfrm>
        </p:grpSpPr>
        <p:sp>
          <p:nvSpPr>
            <p:cNvPr name="Freeform 8" id="8"/>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9" id="9"/>
          <p:cNvGrpSpPr/>
          <p:nvPr/>
        </p:nvGrpSpPr>
        <p:grpSpPr>
          <a:xfrm rot="0">
            <a:off x="1097280" y="2359152"/>
            <a:ext cx="3442716" cy="716661"/>
            <a:chOff x="0" y="0"/>
            <a:chExt cx="4590288" cy="955548"/>
          </a:xfrm>
        </p:grpSpPr>
        <p:sp>
          <p:nvSpPr>
            <p:cNvPr name="Freeform 10" id="10"/>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11" id="11"/>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101,928</a:t>
              </a:r>
            </a:p>
          </p:txBody>
        </p:sp>
      </p:grpSp>
      <p:grpSp>
        <p:nvGrpSpPr>
          <p:cNvPr name="Group 12" id="12"/>
          <p:cNvGrpSpPr/>
          <p:nvPr/>
        </p:nvGrpSpPr>
        <p:grpSpPr>
          <a:xfrm rot="0">
            <a:off x="1097280" y="2976372"/>
            <a:ext cx="3442716" cy="456057"/>
            <a:chOff x="0" y="0"/>
            <a:chExt cx="4590288" cy="608076"/>
          </a:xfrm>
        </p:grpSpPr>
        <p:sp>
          <p:nvSpPr>
            <p:cNvPr name="Freeform 13" id="13"/>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14" id="14"/>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Cyber Cases in 2024</a:t>
              </a:r>
            </a:p>
          </p:txBody>
        </p:sp>
      </p:grpSp>
      <p:grpSp>
        <p:nvGrpSpPr>
          <p:cNvPr name="Group 15" id="15"/>
          <p:cNvGrpSpPr/>
          <p:nvPr/>
        </p:nvGrpSpPr>
        <p:grpSpPr>
          <a:xfrm rot="0">
            <a:off x="4978908" y="2194560"/>
            <a:ext cx="3771900" cy="1303020"/>
            <a:chOff x="0" y="0"/>
            <a:chExt cx="5029200" cy="1737360"/>
          </a:xfrm>
        </p:grpSpPr>
        <p:sp>
          <p:nvSpPr>
            <p:cNvPr name="Freeform 16" id="16"/>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17" id="17"/>
          <p:cNvGrpSpPr/>
          <p:nvPr/>
        </p:nvGrpSpPr>
        <p:grpSpPr>
          <a:xfrm rot="0">
            <a:off x="5143500" y="2359152"/>
            <a:ext cx="3442716" cy="716661"/>
            <a:chOff x="0" y="0"/>
            <a:chExt cx="4590288" cy="955548"/>
          </a:xfrm>
        </p:grpSpPr>
        <p:sp>
          <p:nvSpPr>
            <p:cNvPr name="Freeform 18" id="18"/>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19" id="19"/>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+129%</a:t>
              </a:r>
            </a:p>
          </p:txBody>
        </p:sp>
      </p:grpSp>
      <p:grpSp>
        <p:nvGrpSpPr>
          <p:cNvPr name="Group 20" id="20"/>
          <p:cNvGrpSpPr/>
          <p:nvPr/>
        </p:nvGrpSpPr>
        <p:grpSpPr>
          <a:xfrm rot="0">
            <a:off x="5143500" y="2976372"/>
            <a:ext cx="3442716" cy="456057"/>
            <a:chOff x="0" y="0"/>
            <a:chExt cx="4590288" cy="608076"/>
          </a:xfrm>
        </p:grpSpPr>
        <p:sp>
          <p:nvSpPr>
            <p:cNvPr name="Freeform 21" id="21"/>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22" id="22"/>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Growth Since 2019</a:t>
              </a:r>
            </a:p>
          </p:txBody>
        </p:sp>
      </p:grpSp>
      <p:grpSp>
        <p:nvGrpSpPr>
          <p:cNvPr name="Group 23" id="23"/>
          <p:cNvGrpSpPr/>
          <p:nvPr/>
        </p:nvGrpSpPr>
        <p:grpSpPr>
          <a:xfrm rot="0">
            <a:off x="9025128" y="2194560"/>
            <a:ext cx="3771900" cy="1303020"/>
            <a:chOff x="0" y="0"/>
            <a:chExt cx="5029200" cy="1737360"/>
          </a:xfrm>
        </p:grpSpPr>
        <p:sp>
          <p:nvSpPr>
            <p:cNvPr name="Freeform 24" id="24"/>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25" id="25"/>
          <p:cNvGrpSpPr/>
          <p:nvPr/>
        </p:nvGrpSpPr>
        <p:grpSpPr>
          <a:xfrm rot="0">
            <a:off x="9189720" y="2359152"/>
            <a:ext cx="3442716" cy="716661"/>
            <a:chOff x="0" y="0"/>
            <a:chExt cx="4590288" cy="955548"/>
          </a:xfrm>
        </p:grpSpPr>
        <p:sp>
          <p:nvSpPr>
            <p:cNvPr name="Freeform 26" id="26"/>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27" id="27"/>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108K</a:t>
              </a:r>
            </a:p>
          </p:txBody>
        </p:sp>
      </p:grpSp>
      <p:grpSp>
        <p:nvGrpSpPr>
          <p:cNvPr name="Group 28" id="28"/>
          <p:cNvGrpSpPr/>
          <p:nvPr/>
        </p:nvGrpSpPr>
        <p:grpSpPr>
          <a:xfrm rot="0">
            <a:off x="9189720" y="2976372"/>
            <a:ext cx="3442716" cy="456057"/>
            <a:chOff x="0" y="0"/>
            <a:chExt cx="4590288" cy="608076"/>
          </a:xfrm>
        </p:grpSpPr>
        <p:sp>
          <p:nvSpPr>
            <p:cNvPr name="Freeform 29" id="29"/>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30" id="30"/>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Fraud-type Complaints</a:t>
              </a:r>
            </a:p>
          </p:txBody>
        </p:sp>
      </p:grpSp>
      <p:grpSp>
        <p:nvGrpSpPr>
          <p:cNvPr name="Group 31" id="31"/>
          <p:cNvGrpSpPr/>
          <p:nvPr/>
        </p:nvGrpSpPr>
        <p:grpSpPr>
          <a:xfrm rot="0">
            <a:off x="13071348" y="2194560"/>
            <a:ext cx="3771900" cy="1303020"/>
            <a:chOff x="0" y="0"/>
            <a:chExt cx="5029200" cy="1737360"/>
          </a:xfrm>
        </p:grpSpPr>
        <p:sp>
          <p:nvSpPr>
            <p:cNvPr name="Freeform 32" id="32"/>
            <p:cNvSpPr/>
            <p:nvPr/>
          </p:nvSpPr>
          <p:spPr>
            <a:xfrm flipH="false" flipV="false" rot="0">
              <a:off x="0" y="0"/>
              <a:ext cx="5029200" cy="1737360"/>
            </a:xfrm>
            <a:custGeom>
              <a:avLst/>
              <a:gdLst/>
              <a:ahLst/>
              <a:cxnLst/>
              <a:rect r="r" b="b" t="t" l="l"/>
              <a:pathLst>
                <a:path h="1737360" w="5029200">
                  <a:moveTo>
                    <a:pt x="0" y="146304"/>
                  </a:moveTo>
                  <a:cubicBezTo>
                    <a:pt x="0" y="65532"/>
                    <a:pt x="65532" y="0"/>
                    <a:pt x="146304" y="0"/>
                  </a:cubicBezTo>
                  <a:lnTo>
                    <a:pt x="4882896" y="0"/>
                  </a:lnTo>
                  <a:cubicBezTo>
                    <a:pt x="4963668" y="0"/>
                    <a:pt x="5029200" y="65532"/>
                    <a:pt x="5029200" y="146304"/>
                  </a:cubicBezTo>
                  <a:lnTo>
                    <a:pt x="5029200" y="1591056"/>
                  </a:lnTo>
                  <a:cubicBezTo>
                    <a:pt x="5029200" y="1671828"/>
                    <a:pt x="4963668" y="1737360"/>
                    <a:pt x="4882896" y="1737360"/>
                  </a:cubicBezTo>
                  <a:lnTo>
                    <a:pt x="146304" y="1737360"/>
                  </a:lnTo>
                  <a:cubicBezTo>
                    <a:pt x="65532" y="1737360"/>
                    <a:pt x="0" y="1671828"/>
                    <a:pt x="0" y="1591056"/>
                  </a:cubicBezTo>
                  <a:close/>
                </a:path>
              </a:pathLst>
            </a:custGeom>
            <a:solidFill>
              <a:srgbClr val="F4F5F7"/>
            </a:solidFill>
          </p:spPr>
        </p:sp>
      </p:grpSp>
      <p:grpSp>
        <p:nvGrpSpPr>
          <p:cNvPr name="Group 33" id="33"/>
          <p:cNvGrpSpPr/>
          <p:nvPr/>
        </p:nvGrpSpPr>
        <p:grpSpPr>
          <a:xfrm rot="0">
            <a:off x="13235940" y="2359152"/>
            <a:ext cx="3442716" cy="716661"/>
            <a:chOff x="0" y="0"/>
            <a:chExt cx="4590288" cy="955548"/>
          </a:xfrm>
        </p:grpSpPr>
        <p:sp>
          <p:nvSpPr>
            <p:cNvPr name="Freeform 34" id="34"/>
            <p:cNvSpPr/>
            <p:nvPr/>
          </p:nvSpPr>
          <p:spPr>
            <a:xfrm flipH="false" flipV="false" rot="0">
              <a:off x="0" y="0"/>
              <a:ext cx="4590288" cy="955548"/>
            </a:xfrm>
            <a:custGeom>
              <a:avLst/>
              <a:gdLst/>
              <a:ahLst/>
              <a:cxnLst/>
              <a:rect r="r" b="b" t="t" l="l"/>
              <a:pathLst>
                <a:path h="955548" w="4590288">
                  <a:moveTo>
                    <a:pt x="0" y="0"/>
                  </a:moveTo>
                  <a:lnTo>
                    <a:pt x="4590288" y="0"/>
                  </a:lnTo>
                  <a:lnTo>
                    <a:pt x="4590288" y="955548"/>
                  </a:lnTo>
                  <a:lnTo>
                    <a:pt x="0" y="955548"/>
                  </a:lnTo>
                  <a:close/>
                </a:path>
              </a:pathLst>
            </a:custGeom>
            <a:blipFill>
              <a:blip r:embed="rId3">
                <a:alphaModFix amt="0"/>
              </a:blip>
              <a:stretch>
                <a:fillRect l="0" t="-43602" r="0" b="-43602"/>
              </a:stretch>
            </a:blipFill>
          </p:spPr>
        </p:sp>
        <p:sp>
          <p:nvSpPr>
            <p:cNvPr name="TextBox 35" id="35"/>
            <p:cNvSpPr txBox="true"/>
            <p:nvPr/>
          </p:nvSpPr>
          <p:spPr>
            <a:xfrm>
              <a:off x="0" y="0"/>
              <a:ext cx="4590288" cy="955548"/>
            </a:xfrm>
            <a:prstGeom prst="rect">
              <a:avLst/>
            </a:prstGeom>
          </p:spPr>
          <p:txBody>
            <a:bodyPr anchor="ctr" rtlCol="false" tIns="0" lIns="0" bIns="0" rIns="0"/>
            <a:lstStyle/>
            <a:p>
              <a:pPr algn="l">
                <a:lnSpc>
                  <a:spcPts val="3600"/>
                </a:lnSpc>
              </a:pPr>
              <a:r>
                <a:rPr lang="en-US" b="true" sz="3000" spc="23">
                  <a:solidFill>
                    <a:srgbClr val="E8A33D"/>
                  </a:solidFill>
                  <a:latin typeface="TT Phobos Bold"/>
                  <a:ea typeface="TT Phobos Bold"/>
                  <a:cs typeface="TT Phobos Bold"/>
                  <a:sym typeface="TT Phobos Bold"/>
                </a:rPr>
                <a:t>8</a:t>
              </a:r>
            </a:p>
          </p:txBody>
        </p:sp>
      </p:grpSp>
      <p:grpSp>
        <p:nvGrpSpPr>
          <p:cNvPr name="Group 36" id="36"/>
          <p:cNvGrpSpPr/>
          <p:nvPr/>
        </p:nvGrpSpPr>
        <p:grpSpPr>
          <a:xfrm rot="0">
            <a:off x="13235940" y="2976372"/>
            <a:ext cx="3442716" cy="456057"/>
            <a:chOff x="0" y="0"/>
            <a:chExt cx="4590288" cy="608076"/>
          </a:xfrm>
        </p:grpSpPr>
        <p:sp>
          <p:nvSpPr>
            <p:cNvPr name="Freeform 37" id="37"/>
            <p:cNvSpPr/>
            <p:nvPr/>
          </p:nvSpPr>
          <p:spPr>
            <a:xfrm flipH="false" flipV="false" rot="0">
              <a:off x="0" y="0"/>
              <a:ext cx="4590288" cy="608076"/>
            </a:xfrm>
            <a:custGeom>
              <a:avLst/>
              <a:gdLst/>
              <a:ahLst/>
              <a:cxnLst/>
              <a:rect r="r" b="b" t="t" l="l"/>
              <a:pathLst>
                <a:path h="608076" w="4590288">
                  <a:moveTo>
                    <a:pt x="0" y="0"/>
                  </a:moveTo>
                  <a:lnTo>
                    <a:pt x="4590288" y="0"/>
                  </a:lnTo>
                  <a:lnTo>
                    <a:pt x="4590288" y="608076"/>
                  </a:lnTo>
                  <a:lnTo>
                    <a:pt x="0" y="608076"/>
                  </a:lnTo>
                  <a:close/>
                </a:path>
              </a:pathLst>
            </a:custGeom>
            <a:blipFill>
              <a:blip r:embed="rId3">
                <a:alphaModFix amt="0"/>
              </a:blip>
              <a:stretch>
                <a:fillRect l="0" t="-97090" r="0" b="-97090"/>
              </a:stretch>
            </a:blipFill>
          </p:spPr>
        </p:sp>
        <p:sp>
          <p:nvSpPr>
            <p:cNvPr name="TextBox 38" id="38"/>
            <p:cNvSpPr txBox="true"/>
            <p:nvPr/>
          </p:nvSpPr>
          <p:spPr>
            <a:xfrm>
              <a:off x="0" y="-38100"/>
              <a:ext cx="4590288" cy="646176"/>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Tracked Categories</a:t>
              </a:r>
            </a:p>
          </p:txBody>
        </p:sp>
      </p:grpSp>
      <p:grpSp>
        <p:nvGrpSpPr>
          <p:cNvPr name="Group 39" id="39"/>
          <p:cNvGrpSpPr/>
          <p:nvPr/>
        </p:nvGrpSpPr>
        <p:grpSpPr>
          <a:xfrm rot="0">
            <a:off x="932688" y="3813048"/>
            <a:ext cx="10424160" cy="5102352"/>
            <a:chOff x="0" y="0"/>
            <a:chExt cx="13898880" cy="6803136"/>
          </a:xfrm>
        </p:grpSpPr>
        <p:sp>
          <p:nvSpPr>
            <p:cNvPr name="Freeform 40" id="40"/>
            <p:cNvSpPr/>
            <p:nvPr/>
          </p:nvSpPr>
          <p:spPr>
            <a:xfrm flipH="false" flipV="false" rot="0">
              <a:off x="0" y="0"/>
              <a:ext cx="13898880" cy="6803136"/>
            </a:xfrm>
            <a:custGeom>
              <a:avLst/>
              <a:gdLst/>
              <a:ahLst/>
              <a:cxnLst/>
              <a:rect r="r" b="b" t="t" l="l"/>
              <a:pathLst>
                <a:path h="6803136" w="13898880">
                  <a:moveTo>
                    <a:pt x="0" y="146304"/>
                  </a:moveTo>
                  <a:cubicBezTo>
                    <a:pt x="0" y="65532"/>
                    <a:pt x="65532" y="0"/>
                    <a:pt x="146304" y="0"/>
                  </a:cubicBezTo>
                  <a:lnTo>
                    <a:pt x="13752576" y="0"/>
                  </a:lnTo>
                  <a:cubicBezTo>
                    <a:pt x="13833348" y="0"/>
                    <a:pt x="13898880" y="65532"/>
                    <a:pt x="13898880" y="146304"/>
                  </a:cubicBezTo>
                  <a:lnTo>
                    <a:pt x="13898880" y="6656832"/>
                  </a:lnTo>
                  <a:cubicBezTo>
                    <a:pt x="13898880" y="6737603"/>
                    <a:pt x="13833348" y="6803136"/>
                    <a:pt x="13752576" y="6803136"/>
                  </a:cubicBezTo>
                  <a:lnTo>
                    <a:pt x="146304" y="6803136"/>
                  </a:lnTo>
                  <a:cubicBezTo>
                    <a:pt x="65532" y="6803136"/>
                    <a:pt x="0" y="6737604"/>
                    <a:pt x="0" y="6656832"/>
                  </a:cubicBezTo>
                  <a:close/>
                </a:path>
              </a:pathLst>
            </a:custGeom>
            <a:solidFill>
              <a:srgbClr val="F4F5F7"/>
            </a:solidFill>
          </p:spPr>
        </p:sp>
      </p:grpSp>
      <p:grpSp>
        <p:nvGrpSpPr>
          <p:cNvPr name="Group 41" id="41"/>
          <p:cNvGrpSpPr/>
          <p:nvPr/>
        </p:nvGrpSpPr>
        <p:grpSpPr>
          <a:xfrm rot="0">
            <a:off x="1234440" y="4059936"/>
            <a:ext cx="9875520" cy="480060"/>
            <a:chOff x="0" y="0"/>
            <a:chExt cx="13167360" cy="640080"/>
          </a:xfrm>
        </p:grpSpPr>
        <p:sp>
          <p:nvSpPr>
            <p:cNvPr name="Freeform 42" id="42"/>
            <p:cNvSpPr/>
            <p:nvPr/>
          </p:nvSpPr>
          <p:spPr>
            <a:xfrm flipH="false" flipV="false" rot="0">
              <a:off x="0" y="0"/>
              <a:ext cx="13167361" cy="640080"/>
            </a:xfrm>
            <a:custGeom>
              <a:avLst/>
              <a:gdLst/>
              <a:ahLst/>
              <a:cxnLst/>
              <a:rect r="r" b="b" t="t" l="l"/>
              <a:pathLst>
                <a:path h="640080" w="13167361">
                  <a:moveTo>
                    <a:pt x="0" y="0"/>
                  </a:moveTo>
                  <a:lnTo>
                    <a:pt x="13167361" y="0"/>
                  </a:lnTo>
                  <a:lnTo>
                    <a:pt x="13167361" y="640080"/>
                  </a:lnTo>
                  <a:lnTo>
                    <a:pt x="0" y="640080"/>
                  </a:lnTo>
                  <a:close/>
                </a:path>
              </a:pathLst>
            </a:custGeom>
            <a:blipFill>
              <a:blip r:embed="rId3">
                <a:alphaModFix amt="0"/>
              </a:blip>
              <a:stretch>
                <a:fillRect l="0" t="-350835" r="0" b="-350835"/>
              </a:stretch>
            </a:blipFill>
          </p:spPr>
        </p:sp>
        <p:sp>
          <p:nvSpPr>
            <p:cNvPr name="TextBox 43" id="43"/>
            <p:cNvSpPr txBox="true"/>
            <p:nvPr/>
          </p:nvSpPr>
          <p:spPr>
            <a:xfrm>
              <a:off x="0" y="0"/>
              <a:ext cx="13167360" cy="640080"/>
            </a:xfrm>
            <a:prstGeom prst="rect">
              <a:avLst/>
            </a:prstGeom>
          </p:spPr>
          <p:txBody>
            <a:bodyPr anchor="ctr" rtlCol="false" tIns="0" lIns="0" bIns="0" rIns="0"/>
            <a:lstStyle/>
            <a:p>
              <a:pPr algn="l">
                <a:lnSpc>
                  <a:spcPts val="2340"/>
                </a:lnSpc>
              </a:pPr>
              <a:r>
                <a:rPr lang="en-US" b="true" sz="1950" spc="15">
                  <a:solidFill>
                    <a:srgbClr val="11131A"/>
                  </a:solidFill>
                  <a:latin typeface="TT Phobos Bold"/>
                  <a:ea typeface="TT Phobos Bold"/>
                  <a:cs typeface="TT Phobos Bold"/>
                  <a:sym typeface="TT Phobos Bold"/>
                </a:rPr>
                <a:t>Cyber Crime Concentration by Category</a:t>
              </a:r>
            </a:p>
          </p:txBody>
        </p:sp>
      </p:grpSp>
      <p:grpSp>
        <p:nvGrpSpPr>
          <p:cNvPr name="Group 44" id="44"/>
          <p:cNvGrpSpPr/>
          <p:nvPr/>
        </p:nvGrpSpPr>
        <p:grpSpPr>
          <a:xfrm rot="0">
            <a:off x="1234440" y="4690872"/>
            <a:ext cx="2331720" cy="438912"/>
            <a:chOff x="0" y="0"/>
            <a:chExt cx="3108960" cy="585216"/>
          </a:xfrm>
        </p:grpSpPr>
        <p:sp>
          <p:nvSpPr>
            <p:cNvPr name="Freeform 45" id="45"/>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46" id="46"/>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Fraud</a:t>
              </a:r>
            </a:p>
          </p:txBody>
        </p:sp>
      </p:grpSp>
      <p:grpSp>
        <p:nvGrpSpPr>
          <p:cNvPr name="Group 47" id="47"/>
          <p:cNvGrpSpPr/>
          <p:nvPr/>
        </p:nvGrpSpPr>
        <p:grpSpPr>
          <a:xfrm rot="0">
            <a:off x="3634740" y="4745736"/>
            <a:ext cx="6995160" cy="301752"/>
            <a:chOff x="0" y="0"/>
            <a:chExt cx="9326880" cy="402336"/>
          </a:xfrm>
        </p:grpSpPr>
        <p:sp>
          <p:nvSpPr>
            <p:cNvPr name="Freeform 48" id="48"/>
            <p:cNvSpPr/>
            <p:nvPr/>
          </p:nvSpPr>
          <p:spPr>
            <a:xfrm flipH="false" flipV="false" rot="0">
              <a:off x="0" y="0"/>
              <a:ext cx="9326880" cy="402336"/>
            </a:xfrm>
            <a:custGeom>
              <a:avLst/>
              <a:gdLst/>
              <a:ahLst/>
              <a:cxnLst/>
              <a:rect r="r" b="b" t="t" l="l"/>
              <a:pathLst>
                <a:path h="402336" w="9326880">
                  <a:moveTo>
                    <a:pt x="0" y="54864"/>
                  </a:moveTo>
                  <a:cubicBezTo>
                    <a:pt x="0" y="24511"/>
                    <a:pt x="24511" y="0"/>
                    <a:pt x="54864" y="0"/>
                  </a:cubicBezTo>
                  <a:lnTo>
                    <a:pt x="9272016" y="0"/>
                  </a:lnTo>
                  <a:cubicBezTo>
                    <a:pt x="9302369" y="0"/>
                    <a:pt x="9326880" y="24511"/>
                    <a:pt x="9326880" y="54864"/>
                  </a:cubicBezTo>
                  <a:lnTo>
                    <a:pt x="9326880" y="347472"/>
                  </a:lnTo>
                  <a:cubicBezTo>
                    <a:pt x="9326880" y="377825"/>
                    <a:pt x="9302369" y="402336"/>
                    <a:pt x="9272016" y="402336"/>
                  </a:cubicBezTo>
                  <a:lnTo>
                    <a:pt x="54864" y="402336"/>
                  </a:lnTo>
                  <a:cubicBezTo>
                    <a:pt x="24511" y="402336"/>
                    <a:pt x="0" y="377825"/>
                    <a:pt x="0" y="347472"/>
                  </a:cubicBezTo>
                  <a:close/>
                </a:path>
              </a:pathLst>
            </a:custGeom>
            <a:solidFill>
              <a:srgbClr val="E8A33D"/>
            </a:solidFill>
          </p:spPr>
        </p:sp>
      </p:grpSp>
      <p:grpSp>
        <p:nvGrpSpPr>
          <p:cNvPr name="Group 49" id="49"/>
          <p:cNvGrpSpPr/>
          <p:nvPr/>
        </p:nvGrpSpPr>
        <p:grpSpPr>
          <a:xfrm rot="0">
            <a:off x="10739628" y="4690872"/>
            <a:ext cx="960120" cy="438912"/>
            <a:chOff x="0" y="0"/>
            <a:chExt cx="1280160" cy="585216"/>
          </a:xfrm>
        </p:grpSpPr>
        <p:sp>
          <p:nvSpPr>
            <p:cNvPr name="Freeform 50" id="50"/>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51" id="51"/>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108K</a:t>
              </a:r>
            </a:p>
          </p:txBody>
        </p:sp>
      </p:grpSp>
      <p:grpSp>
        <p:nvGrpSpPr>
          <p:cNvPr name="Group 52" id="52"/>
          <p:cNvGrpSpPr/>
          <p:nvPr/>
        </p:nvGrpSpPr>
        <p:grpSpPr>
          <a:xfrm rot="0">
            <a:off x="1234440" y="5239512"/>
            <a:ext cx="2331720" cy="438912"/>
            <a:chOff x="0" y="0"/>
            <a:chExt cx="3108960" cy="585216"/>
          </a:xfrm>
        </p:grpSpPr>
        <p:sp>
          <p:nvSpPr>
            <p:cNvPr name="Freeform 53" id="53"/>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54" id="54"/>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Online Fraud</a:t>
              </a:r>
            </a:p>
          </p:txBody>
        </p:sp>
      </p:grpSp>
      <p:grpSp>
        <p:nvGrpSpPr>
          <p:cNvPr name="Group 55" id="55"/>
          <p:cNvGrpSpPr/>
          <p:nvPr/>
        </p:nvGrpSpPr>
        <p:grpSpPr>
          <a:xfrm rot="0">
            <a:off x="3634740" y="5294376"/>
            <a:ext cx="6282690" cy="301752"/>
            <a:chOff x="0" y="0"/>
            <a:chExt cx="8376920" cy="402336"/>
          </a:xfrm>
        </p:grpSpPr>
        <p:sp>
          <p:nvSpPr>
            <p:cNvPr name="Freeform 56" id="56"/>
            <p:cNvSpPr/>
            <p:nvPr/>
          </p:nvSpPr>
          <p:spPr>
            <a:xfrm flipH="false" flipV="false" rot="0">
              <a:off x="0" y="0"/>
              <a:ext cx="8376920" cy="402336"/>
            </a:xfrm>
            <a:custGeom>
              <a:avLst/>
              <a:gdLst/>
              <a:ahLst/>
              <a:cxnLst/>
              <a:rect r="r" b="b" t="t" l="l"/>
              <a:pathLst>
                <a:path h="402336" w="8376920">
                  <a:moveTo>
                    <a:pt x="0" y="54864"/>
                  </a:moveTo>
                  <a:cubicBezTo>
                    <a:pt x="0" y="24511"/>
                    <a:pt x="24511" y="0"/>
                    <a:pt x="54864" y="0"/>
                  </a:cubicBezTo>
                  <a:lnTo>
                    <a:pt x="8322056" y="0"/>
                  </a:lnTo>
                  <a:cubicBezTo>
                    <a:pt x="8352410" y="0"/>
                    <a:pt x="8376920" y="24511"/>
                    <a:pt x="8376920" y="54864"/>
                  </a:cubicBezTo>
                  <a:lnTo>
                    <a:pt x="8376920" y="347472"/>
                  </a:lnTo>
                  <a:cubicBezTo>
                    <a:pt x="8376920" y="377825"/>
                    <a:pt x="8352410" y="402336"/>
                    <a:pt x="8322056" y="402336"/>
                  </a:cubicBezTo>
                  <a:lnTo>
                    <a:pt x="54864" y="402336"/>
                  </a:lnTo>
                  <a:cubicBezTo>
                    <a:pt x="24511" y="402336"/>
                    <a:pt x="0" y="377825"/>
                    <a:pt x="0" y="347472"/>
                  </a:cubicBezTo>
                  <a:close/>
                </a:path>
              </a:pathLst>
            </a:custGeom>
            <a:solidFill>
              <a:srgbClr val="E8A33D"/>
            </a:solidFill>
          </p:spPr>
        </p:sp>
      </p:grpSp>
      <p:grpSp>
        <p:nvGrpSpPr>
          <p:cNvPr name="Group 57" id="57"/>
          <p:cNvGrpSpPr/>
          <p:nvPr/>
        </p:nvGrpSpPr>
        <p:grpSpPr>
          <a:xfrm rot="0">
            <a:off x="10027158" y="5239512"/>
            <a:ext cx="960120" cy="438912"/>
            <a:chOff x="0" y="0"/>
            <a:chExt cx="1280160" cy="585216"/>
          </a:xfrm>
        </p:grpSpPr>
        <p:sp>
          <p:nvSpPr>
            <p:cNvPr name="Freeform 58" id="58"/>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59" id="59"/>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97K</a:t>
              </a:r>
            </a:p>
          </p:txBody>
        </p:sp>
      </p:grpSp>
      <p:grpSp>
        <p:nvGrpSpPr>
          <p:cNvPr name="Group 60" id="60"/>
          <p:cNvGrpSpPr/>
          <p:nvPr/>
        </p:nvGrpSpPr>
        <p:grpSpPr>
          <a:xfrm rot="0">
            <a:off x="1234440" y="5788152"/>
            <a:ext cx="2331720" cy="438912"/>
            <a:chOff x="0" y="0"/>
            <a:chExt cx="3108960" cy="585216"/>
          </a:xfrm>
        </p:grpSpPr>
        <p:sp>
          <p:nvSpPr>
            <p:cNvPr name="Freeform 61" id="61"/>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62" id="62"/>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Hacking</a:t>
              </a:r>
            </a:p>
          </p:txBody>
        </p:sp>
      </p:grpSp>
      <p:grpSp>
        <p:nvGrpSpPr>
          <p:cNvPr name="Group 63" id="63"/>
          <p:cNvGrpSpPr/>
          <p:nvPr/>
        </p:nvGrpSpPr>
        <p:grpSpPr>
          <a:xfrm rot="0">
            <a:off x="3634740" y="5843016"/>
            <a:ext cx="4339590" cy="301752"/>
            <a:chOff x="0" y="0"/>
            <a:chExt cx="5786120" cy="402336"/>
          </a:xfrm>
        </p:grpSpPr>
        <p:sp>
          <p:nvSpPr>
            <p:cNvPr name="Freeform 64" id="64"/>
            <p:cNvSpPr/>
            <p:nvPr/>
          </p:nvSpPr>
          <p:spPr>
            <a:xfrm flipH="false" flipV="false" rot="0">
              <a:off x="0" y="0"/>
              <a:ext cx="5786120" cy="402336"/>
            </a:xfrm>
            <a:custGeom>
              <a:avLst/>
              <a:gdLst/>
              <a:ahLst/>
              <a:cxnLst/>
              <a:rect r="r" b="b" t="t" l="l"/>
              <a:pathLst>
                <a:path h="402336" w="5786120">
                  <a:moveTo>
                    <a:pt x="0" y="54864"/>
                  </a:moveTo>
                  <a:cubicBezTo>
                    <a:pt x="0" y="24511"/>
                    <a:pt x="24511" y="0"/>
                    <a:pt x="54864" y="0"/>
                  </a:cubicBezTo>
                  <a:lnTo>
                    <a:pt x="5731256" y="0"/>
                  </a:lnTo>
                  <a:cubicBezTo>
                    <a:pt x="5761609" y="0"/>
                    <a:pt x="5786120" y="24511"/>
                    <a:pt x="5786120" y="54864"/>
                  </a:cubicBezTo>
                  <a:lnTo>
                    <a:pt x="5786120" y="347472"/>
                  </a:lnTo>
                  <a:cubicBezTo>
                    <a:pt x="5786120" y="377825"/>
                    <a:pt x="5761609" y="402336"/>
                    <a:pt x="5731256" y="402336"/>
                  </a:cubicBezTo>
                  <a:lnTo>
                    <a:pt x="54864" y="402336"/>
                  </a:lnTo>
                  <a:cubicBezTo>
                    <a:pt x="24511" y="402336"/>
                    <a:pt x="0" y="377825"/>
                    <a:pt x="0" y="347472"/>
                  </a:cubicBezTo>
                  <a:close/>
                </a:path>
              </a:pathLst>
            </a:custGeom>
            <a:solidFill>
              <a:srgbClr val="1F9D8A"/>
            </a:solidFill>
          </p:spPr>
        </p:sp>
      </p:grpSp>
      <p:grpSp>
        <p:nvGrpSpPr>
          <p:cNvPr name="Group 65" id="65"/>
          <p:cNvGrpSpPr/>
          <p:nvPr/>
        </p:nvGrpSpPr>
        <p:grpSpPr>
          <a:xfrm rot="0">
            <a:off x="8084058" y="5788152"/>
            <a:ext cx="960120" cy="438912"/>
            <a:chOff x="0" y="0"/>
            <a:chExt cx="1280160" cy="585216"/>
          </a:xfrm>
        </p:grpSpPr>
        <p:sp>
          <p:nvSpPr>
            <p:cNvPr name="Freeform 66" id="66"/>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67" id="67"/>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67K</a:t>
              </a:r>
            </a:p>
          </p:txBody>
        </p:sp>
      </p:grpSp>
      <p:grpSp>
        <p:nvGrpSpPr>
          <p:cNvPr name="Group 68" id="68"/>
          <p:cNvGrpSpPr/>
          <p:nvPr/>
        </p:nvGrpSpPr>
        <p:grpSpPr>
          <a:xfrm rot="0">
            <a:off x="1234440" y="6336792"/>
            <a:ext cx="2331720" cy="438912"/>
            <a:chOff x="0" y="0"/>
            <a:chExt cx="3108960" cy="585216"/>
          </a:xfrm>
        </p:grpSpPr>
        <p:sp>
          <p:nvSpPr>
            <p:cNvPr name="Freeform 69" id="69"/>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70" id="70"/>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Card / OTP Fraud</a:t>
              </a:r>
            </a:p>
          </p:txBody>
        </p:sp>
      </p:grpSp>
      <p:grpSp>
        <p:nvGrpSpPr>
          <p:cNvPr name="Group 71" id="71"/>
          <p:cNvGrpSpPr/>
          <p:nvPr/>
        </p:nvGrpSpPr>
        <p:grpSpPr>
          <a:xfrm rot="0">
            <a:off x="3634740" y="6391656"/>
            <a:ext cx="3303270" cy="301752"/>
            <a:chOff x="0" y="0"/>
            <a:chExt cx="4404360" cy="402336"/>
          </a:xfrm>
        </p:grpSpPr>
        <p:sp>
          <p:nvSpPr>
            <p:cNvPr name="Freeform 72" id="72"/>
            <p:cNvSpPr/>
            <p:nvPr/>
          </p:nvSpPr>
          <p:spPr>
            <a:xfrm flipH="false" flipV="false" rot="0">
              <a:off x="0" y="0"/>
              <a:ext cx="4404360" cy="402336"/>
            </a:xfrm>
            <a:custGeom>
              <a:avLst/>
              <a:gdLst/>
              <a:ahLst/>
              <a:cxnLst/>
              <a:rect r="r" b="b" t="t" l="l"/>
              <a:pathLst>
                <a:path h="402336" w="4404360">
                  <a:moveTo>
                    <a:pt x="0" y="54864"/>
                  </a:moveTo>
                  <a:cubicBezTo>
                    <a:pt x="0" y="24511"/>
                    <a:pt x="24511" y="0"/>
                    <a:pt x="54864" y="0"/>
                  </a:cubicBezTo>
                  <a:lnTo>
                    <a:pt x="4349496" y="0"/>
                  </a:lnTo>
                  <a:cubicBezTo>
                    <a:pt x="4379849" y="0"/>
                    <a:pt x="4404360" y="24511"/>
                    <a:pt x="4404360" y="54864"/>
                  </a:cubicBezTo>
                  <a:lnTo>
                    <a:pt x="4404360" y="347472"/>
                  </a:lnTo>
                  <a:cubicBezTo>
                    <a:pt x="4404360" y="377825"/>
                    <a:pt x="4379849" y="402336"/>
                    <a:pt x="4349496" y="402336"/>
                  </a:cubicBezTo>
                  <a:lnTo>
                    <a:pt x="54864" y="402336"/>
                  </a:lnTo>
                  <a:cubicBezTo>
                    <a:pt x="24511" y="402336"/>
                    <a:pt x="0" y="377825"/>
                    <a:pt x="0" y="347472"/>
                  </a:cubicBezTo>
                  <a:close/>
                </a:path>
              </a:pathLst>
            </a:custGeom>
            <a:solidFill>
              <a:srgbClr val="1F9D8A"/>
            </a:solidFill>
          </p:spPr>
        </p:sp>
      </p:grpSp>
      <p:grpSp>
        <p:nvGrpSpPr>
          <p:cNvPr name="Group 73" id="73"/>
          <p:cNvGrpSpPr/>
          <p:nvPr/>
        </p:nvGrpSpPr>
        <p:grpSpPr>
          <a:xfrm rot="0">
            <a:off x="7047738" y="6336792"/>
            <a:ext cx="960120" cy="438912"/>
            <a:chOff x="0" y="0"/>
            <a:chExt cx="1280160" cy="585216"/>
          </a:xfrm>
        </p:grpSpPr>
        <p:sp>
          <p:nvSpPr>
            <p:cNvPr name="Freeform 74" id="74"/>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75" id="75"/>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51K</a:t>
              </a:r>
            </a:p>
          </p:txBody>
        </p:sp>
      </p:grpSp>
      <p:grpSp>
        <p:nvGrpSpPr>
          <p:cNvPr name="Group 76" id="76"/>
          <p:cNvGrpSpPr/>
          <p:nvPr/>
        </p:nvGrpSpPr>
        <p:grpSpPr>
          <a:xfrm rot="0">
            <a:off x="1234440" y="6885432"/>
            <a:ext cx="2331720" cy="438912"/>
            <a:chOff x="0" y="0"/>
            <a:chExt cx="3108960" cy="585216"/>
          </a:xfrm>
        </p:grpSpPr>
        <p:sp>
          <p:nvSpPr>
            <p:cNvPr name="Freeform 77" id="77"/>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78" id="78"/>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Harassment</a:t>
              </a:r>
            </a:p>
          </p:txBody>
        </p:sp>
      </p:grpSp>
      <p:grpSp>
        <p:nvGrpSpPr>
          <p:cNvPr name="Group 79" id="79"/>
          <p:cNvGrpSpPr/>
          <p:nvPr/>
        </p:nvGrpSpPr>
        <p:grpSpPr>
          <a:xfrm rot="0">
            <a:off x="3634740" y="6940296"/>
            <a:ext cx="3238500" cy="301752"/>
            <a:chOff x="0" y="0"/>
            <a:chExt cx="4318000" cy="402336"/>
          </a:xfrm>
        </p:grpSpPr>
        <p:sp>
          <p:nvSpPr>
            <p:cNvPr name="Freeform 80" id="80"/>
            <p:cNvSpPr/>
            <p:nvPr/>
          </p:nvSpPr>
          <p:spPr>
            <a:xfrm flipH="false" flipV="false" rot="0">
              <a:off x="0" y="0"/>
              <a:ext cx="4318000" cy="402336"/>
            </a:xfrm>
            <a:custGeom>
              <a:avLst/>
              <a:gdLst/>
              <a:ahLst/>
              <a:cxnLst/>
              <a:rect r="r" b="b" t="t" l="l"/>
              <a:pathLst>
                <a:path h="402336" w="4318000">
                  <a:moveTo>
                    <a:pt x="0" y="54864"/>
                  </a:moveTo>
                  <a:cubicBezTo>
                    <a:pt x="0" y="24511"/>
                    <a:pt x="24511" y="0"/>
                    <a:pt x="54864" y="0"/>
                  </a:cubicBezTo>
                  <a:lnTo>
                    <a:pt x="4263136" y="0"/>
                  </a:lnTo>
                  <a:cubicBezTo>
                    <a:pt x="4293489" y="0"/>
                    <a:pt x="4318000" y="24511"/>
                    <a:pt x="4318000" y="54864"/>
                  </a:cubicBezTo>
                  <a:lnTo>
                    <a:pt x="4318000" y="347472"/>
                  </a:lnTo>
                  <a:cubicBezTo>
                    <a:pt x="4318000" y="377825"/>
                    <a:pt x="4293489" y="402336"/>
                    <a:pt x="4263136" y="402336"/>
                  </a:cubicBezTo>
                  <a:lnTo>
                    <a:pt x="54864" y="402336"/>
                  </a:lnTo>
                  <a:cubicBezTo>
                    <a:pt x="24511" y="402336"/>
                    <a:pt x="0" y="377825"/>
                    <a:pt x="0" y="347472"/>
                  </a:cubicBezTo>
                  <a:close/>
                </a:path>
              </a:pathLst>
            </a:custGeom>
            <a:solidFill>
              <a:srgbClr val="1F9D8A"/>
            </a:solidFill>
          </p:spPr>
        </p:sp>
      </p:grpSp>
      <p:grpSp>
        <p:nvGrpSpPr>
          <p:cNvPr name="Group 81" id="81"/>
          <p:cNvGrpSpPr/>
          <p:nvPr/>
        </p:nvGrpSpPr>
        <p:grpSpPr>
          <a:xfrm rot="0">
            <a:off x="6982968" y="6885432"/>
            <a:ext cx="960120" cy="438912"/>
            <a:chOff x="0" y="0"/>
            <a:chExt cx="1280160" cy="585216"/>
          </a:xfrm>
        </p:grpSpPr>
        <p:sp>
          <p:nvSpPr>
            <p:cNvPr name="Freeform 82" id="82"/>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83" id="83"/>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50K</a:t>
              </a:r>
            </a:p>
          </p:txBody>
        </p:sp>
      </p:grpSp>
      <p:grpSp>
        <p:nvGrpSpPr>
          <p:cNvPr name="Group 84" id="84"/>
          <p:cNvGrpSpPr/>
          <p:nvPr/>
        </p:nvGrpSpPr>
        <p:grpSpPr>
          <a:xfrm rot="0">
            <a:off x="1234440" y="7434072"/>
            <a:ext cx="2331720" cy="438912"/>
            <a:chOff x="0" y="0"/>
            <a:chExt cx="3108960" cy="585216"/>
          </a:xfrm>
        </p:grpSpPr>
        <p:sp>
          <p:nvSpPr>
            <p:cNvPr name="Freeform 85" id="85"/>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86" id="86"/>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Gambling</a:t>
              </a:r>
            </a:p>
          </p:txBody>
        </p:sp>
      </p:grpSp>
      <p:grpSp>
        <p:nvGrpSpPr>
          <p:cNvPr name="Group 87" id="87"/>
          <p:cNvGrpSpPr/>
          <p:nvPr/>
        </p:nvGrpSpPr>
        <p:grpSpPr>
          <a:xfrm rot="0">
            <a:off x="3634740" y="7488936"/>
            <a:ext cx="137160" cy="301752"/>
            <a:chOff x="0" y="0"/>
            <a:chExt cx="182880" cy="402336"/>
          </a:xfrm>
        </p:grpSpPr>
        <p:sp>
          <p:nvSpPr>
            <p:cNvPr name="Freeform 88" id="88"/>
            <p:cNvSpPr/>
            <p:nvPr/>
          </p:nvSpPr>
          <p:spPr>
            <a:xfrm flipH="false" flipV="false" rot="0">
              <a:off x="0" y="0"/>
              <a:ext cx="182880" cy="402336"/>
            </a:xfrm>
            <a:custGeom>
              <a:avLst/>
              <a:gdLst/>
              <a:ahLst/>
              <a:cxnLst/>
              <a:rect r="r" b="b" t="t" l="l"/>
              <a:pathLst>
                <a:path h="402336" w="182880">
                  <a:moveTo>
                    <a:pt x="0" y="54864"/>
                  </a:moveTo>
                  <a:cubicBezTo>
                    <a:pt x="0" y="24511"/>
                    <a:pt x="24511" y="0"/>
                    <a:pt x="54864" y="0"/>
                  </a:cubicBezTo>
                  <a:lnTo>
                    <a:pt x="128016" y="0"/>
                  </a:lnTo>
                  <a:cubicBezTo>
                    <a:pt x="158369" y="0"/>
                    <a:pt x="182880" y="24511"/>
                    <a:pt x="182880" y="54864"/>
                  </a:cubicBezTo>
                  <a:lnTo>
                    <a:pt x="182880" y="347472"/>
                  </a:lnTo>
                  <a:cubicBezTo>
                    <a:pt x="182880" y="377825"/>
                    <a:pt x="158369" y="402336"/>
                    <a:pt x="128016" y="402336"/>
                  </a:cubicBezTo>
                  <a:lnTo>
                    <a:pt x="54864" y="402336"/>
                  </a:lnTo>
                  <a:cubicBezTo>
                    <a:pt x="24511" y="402336"/>
                    <a:pt x="0" y="377825"/>
                    <a:pt x="0" y="347472"/>
                  </a:cubicBezTo>
                  <a:close/>
                </a:path>
              </a:pathLst>
            </a:custGeom>
            <a:solidFill>
              <a:srgbClr val="1F9D8A"/>
            </a:solidFill>
          </p:spPr>
        </p:sp>
      </p:grpSp>
      <p:grpSp>
        <p:nvGrpSpPr>
          <p:cNvPr name="Group 89" id="89"/>
          <p:cNvGrpSpPr/>
          <p:nvPr/>
        </p:nvGrpSpPr>
        <p:grpSpPr>
          <a:xfrm rot="0">
            <a:off x="3881628" y="7434072"/>
            <a:ext cx="960120" cy="438912"/>
            <a:chOff x="0" y="0"/>
            <a:chExt cx="1280160" cy="585216"/>
          </a:xfrm>
        </p:grpSpPr>
        <p:sp>
          <p:nvSpPr>
            <p:cNvPr name="Freeform 90" id="90"/>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91" id="91"/>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2K</a:t>
              </a:r>
            </a:p>
          </p:txBody>
        </p:sp>
      </p:grpSp>
      <p:grpSp>
        <p:nvGrpSpPr>
          <p:cNvPr name="Group 92" id="92"/>
          <p:cNvGrpSpPr/>
          <p:nvPr/>
        </p:nvGrpSpPr>
        <p:grpSpPr>
          <a:xfrm rot="0">
            <a:off x="1234440" y="7982712"/>
            <a:ext cx="2331720" cy="438912"/>
            <a:chOff x="0" y="0"/>
            <a:chExt cx="3108960" cy="585216"/>
          </a:xfrm>
        </p:grpSpPr>
        <p:sp>
          <p:nvSpPr>
            <p:cNvPr name="Freeform 93" id="93"/>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94" id="94"/>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Fake News</a:t>
              </a:r>
            </a:p>
          </p:txBody>
        </p:sp>
      </p:grpSp>
      <p:grpSp>
        <p:nvGrpSpPr>
          <p:cNvPr name="Group 95" id="95"/>
          <p:cNvGrpSpPr/>
          <p:nvPr/>
        </p:nvGrpSpPr>
        <p:grpSpPr>
          <a:xfrm rot="0">
            <a:off x="3634740" y="8037576"/>
            <a:ext cx="137160" cy="301752"/>
            <a:chOff x="0" y="0"/>
            <a:chExt cx="182880" cy="402336"/>
          </a:xfrm>
        </p:grpSpPr>
        <p:sp>
          <p:nvSpPr>
            <p:cNvPr name="Freeform 96" id="96"/>
            <p:cNvSpPr/>
            <p:nvPr/>
          </p:nvSpPr>
          <p:spPr>
            <a:xfrm flipH="false" flipV="false" rot="0">
              <a:off x="0" y="0"/>
              <a:ext cx="182880" cy="402336"/>
            </a:xfrm>
            <a:custGeom>
              <a:avLst/>
              <a:gdLst/>
              <a:ahLst/>
              <a:cxnLst/>
              <a:rect r="r" b="b" t="t" l="l"/>
              <a:pathLst>
                <a:path h="402336" w="182880">
                  <a:moveTo>
                    <a:pt x="0" y="54864"/>
                  </a:moveTo>
                  <a:cubicBezTo>
                    <a:pt x="0" y="24511"/>
                    <a:pt x="24511" y="0"/>
                    <a:pt x="54864" y="0"/>
                  </a:cubicBezTo>
                  <a:lnTo>
                    <a:pt x="128016" y="0"/>
                  </a:lnTo>
                  <a:cubicBezTo>
                    <a:pt x="158369" y="0"/>
                    <a:pt x="182880" y="24511"/>
                    <a:pt x="182880" y="54864"/>
                  </a:cubicBezTo>
                  <a:lnTo>
                    <a:pt x="182880" y="347472"/>
                  </a:lnTo>
                  <a:cubicBezTo>
                    <a:pt x="182880" y="377825"/>
                    <a:pt x="158369" y="402336"/>
                    <a:pt x="128016" y="402336"/>
                  </a:cubicBezTo>
                  <a:lnTo>
                    <a:pt x="54864" y="402336"/>
                  </a:lnTo>
                  <a:cubicBezTo>
                    <a:pt x="24511" y="402336"/>
                    <a:pt x="0" y="377825"/>
                    <a:pt x="0" y="347472"/>
                  </a:cubicBezTo>
                  <a:close/>
                </a:path>
              </a:pathLst>
            </a:custGeom>
            <a:solidFill>
              <a:srgbClr val="1F9D8A"/>
            </a:solidFill>
          </p:spPr>
        </p:sp>
      </p:grpSp>
      <p:grpSp>
        <p:nvGrpSpPr>
          <p:cNvPr name="Group 97" id="97"/>
          <p:cNvGrpSpPr/>
          <p:nvPr/>
        </p:nvGrpSpPr>
        <p:grpSpPr>
          <a:xfrm rot="0">
            <a:off x="3881628" y="7982712"/>
            <a:ext cx="960120" cy="438912"/>
            <a:chOff x="0" y="0"/>
            <a:chExt cx="1280160" cy="585216"/>
          </a:xfrm>
        </p:grpSpPr>
        <p:sp>
          <p:nvSpPr>
            <p:cNvPr name="Freeform 98" id="98"/>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99" id="99"/>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1K</a:t>
              </a:r>
            </a:p>
          </p:txBody>
        </p:sp>
      </p:grpSp>
      <p:grpSp>
        <p:nvGrpSpPr>
          <p:cNvPr name="Group 100" id="100"/>
          <p:cNvGrpSpPr/>
          <p:nvPr/>
        </p:nvGrpSpPr>
        <p:grpSpPr>
          <a:xfrm rot="0">
            <a:off x="1234440" y="8531352"/>
            <a:ext cx="2331720" cy="438912"/>
            <a:chOff x="0" y="0"/>
            <a:chExt cx="3108960" cy="585216"/>
          </a:xfrm>
        </p:grpSpPr>
        <p:sp>
          <p:nvSpPr>
            <p:cNvPr name="Freeform 101" id="101"/>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3">
                <a:alphaModFix amt="0"/>
              </a:blip>
              <a:stretch>
                <a:fillRect l="0" t="-53514" r="0" b="-53514"/>
              </a:stretch>
            </a:blipFill>
          </p:spPr>
        </p:sp>
        <p:sp>
          <p:nvSpPr>
            <p:cNvPr name="TextBox 102" id="102"/>
            <p:cNvSpPr txBox="true"/>
            <p:nvPr/>
          </p:nvSpPr>
          <p:spPr>
            <a:xfrm>
              <a:off x="0" y="-38100"/>
              <a:ext cx="3108960" cy="623316"/>
            </a:xfrm>
            <a:prstGeom prst="rect">
              <a:avLst/>
            </a:prstGeom>
          </p:spPr>
          <p:txBody>
            <a:bodyPr anchor="ctr" rtlCol="false" tIns="0" lIns="0" bIns="0" rIns="0"/>
            <a:lstStyle/>
            <a:p>
              <a:pPr algn="l">
                <a:lnSpc>
                  <a:spcPts val="1709"/>
                </a:lnSpc>
              </a:pPr>
              <a:r>
                <a:rPr lang="en-US" sz="1425">
                  <a:solidFill>
                    <a:srgbClr val="4A4A52"/>
                  </a:solidFill>
                  <a:latin typeface="Calibri (MS)"/>
                  <a:ea typeface="Calibri (MS)"/>
                  <a:cs typeface="Calibri (MS)"/>
                  <a:sym typeface="Calibri (MS)"/>
                </a:rPr>
                <a:t>UPI Fraud</a:t>
              </a:r>
            </a:p>
          </p:txBody>
        </p:sp>
      </p:grpSp>
      <p:grpSp>
        <p:nvGrpSpPr>
          <p:cNvPr name="Group 103" id="103"/>
          <p:cNvGrpSpPr/>
          <p:nvPr/>
        </p:nvGrpSpPr>
        <p:grpSpPr>
          <a:xfrm rot="0">
            <a:off x="3634740" y="8586216"/>
            <a:ext cx="137160" cy="301752"/>
            <a:chOff x="0" y="0"/>
            <a:chExt cx="182880" cy="402336"/>
          </a:xfrm>
        </p:grpSpPr>
        <p:sp>
          <p:nvSpPr>
            <p:cNvPr name="Freeform 104" id="104"/>
            <p:cNvSpPr/>
            <p:nvPr/>
          </p:nvSpPr>
          <p:spPr>
            <a:xfrm flipH="false" flipV="false" rot="0">
              <a:off x="0" y="0"/>
              <a:ext cx="182880" cy="402336"/>
            </a:xfrm>
            <a:custGeom>
              <a:avLst/>
              <a:gdLst/>
              <a:ahLst/>
              <a:cxnLst/>
              <a:rect r="r" b="b" t="t" l="l"/>
              <a:pathLst>
                <a:path h="402336" w="182880">
                  <a:moveTo>
                    <a:pt x="0" y="54864"/>
                  </a:moveTo>
                  <a:cubicBezTo>
                    <a:pt x="0" y="24511"/>
                    <a:pt x="24511" y="0"/>
                    <a:pt x="54864" y="0"/>
                  </a:cubicBezTo>
                  <a:lnTo>
                    <a:pt x="128016" y="0"/>
                  </a:lnTo>
                  <a:cubicBezTo>
                    <a:pt x="158369" y="0"/>
                    <a:pt x="182880" y="24511"/>
                    <a:pt x="182880" y="54864"/>
                  </a:cubicBezTo>
                  <a:lnTo>
                    <a:pt x="182880" y="347472"/>
                  </a:lnTo>
                  <a:cubicBezTo>
                    <a:pt x="182880" y="377825"/>
                    <a:pt x="158369" y="402336"/>
                    <a:pt x="128016" y="402336"/>
                  </a:cubicBezTo>
                  <a:lnTo>
                    <a:pt x="54864" y="402336"/>
                  </a:lnTo>
                  <a:cubicBezTo>
                    <a:pt x="24511" y="402336"/>
                    <a:pt x="0" y="377825"/>
                    <a:pt x="0" y="347472"/>
                  </a:cubicBezTo>
                  <a:close/>
                </a:path>
              </a:pathLst>
            </a:custGeom>
            <a:solidFill>
              <a:srgbClr val="1F9D8A"/>
            </a:solidFill>
          </p:spPr>
        </p:sp>
      </p:grpSp>
      <p:grpSp>
        <p:nvGrpSpPr>
          <p:cNvPr name="Group 105" id="105"/>
          <p:cNvGrpSpPr/>
          <p:nvPr/>
        </p:nvGrpSpPr>
        <p:grpSpPr>
          <a:xfrm rot="0">
            <a:off x="3881628" y="8531352"/>
            <a:ext cx="960120" cy="438912"/>
            <a:chOff x="0" y="0"/>
            <a:chExt cx="1280160" cy="585216"/>
          </a:xfrm>
        </p:grpSpPr>
        <p:sp>
          <p:nvSpPr>
            <p:cNvPr name="Freeform 106" id="106"/>
            <p:cNvSpPr/>
            <p:nvPr/>
          </p:nvSpPr>
          <p:spPr>
            <a:xfrm flipH="false" flipV="false" rot="0">
              <a:off x="0" y="0"/>
              <a:ext cx="1280160" cy="585216"/>
            </a:xfrm>
            <a:custGeom>
              <a:avLst/>
              <a:gdLst/>
              <a:ahLst/>
              <a:cxnLst/>
              <a:rect r="r" b="b" t="t" l="l"/>
              <a:pathLst>
                <a:path h="585216" w="1280160">
                  <a:moveTo>
                    <a:pt x="0" y="0"/>
                  </a:moveTo>
                  <a:lnTo>
                    <a:pt x="1280160" y="0"/>
                  </a:lnTo>
                  <a:lnTo>
                    <a:pt x="1280160" y="585216"/>
                  </a:lnTo>
                  <a:lnTo>
                    <a:pt x="0" y="585216"/>
                  </a:lnTo>
                  <a:close/>
                </a:path>
              </a:pathLst>
            </a:custGeom>
            <a:blipFill>
              <a:blip r:embed="rId3">
                <a:alphaModFix amt="0"/>
              </a:blip>
              <a:stretch>
                <a:fillRect l="-8653" t="0" r="-8653" b="0"/>
              </a:stretch>
            </a:blipFill>
          </p:spPr>
        </p:sp>
        <p:sp>
          <p:nvSpPr>
            <p:cNvPr name="TextBox 107" id="107"/>
            <p:cNvSpPr txBox="true"/>
            <p:nvPr/>
          </p:nvSpPr>
          <p:spPr>
            <a:xfrm>
              <a:off x="0" y="-38100"/>
              <a:ext cx="1280160" cy="623316"/>
            </a:xfrm>
            <a:prstGeom prst="rect">
              <a:avLst/>
            </a:prstGeom>
          </p:spPr>
          <p:txBody>
            <a:bodyPr anchor="ctr" rtlCol="false" tIns="0" lIns="0" bIns="0" rIns="0"/>
            <a:lstStyle/>
            <a:p>
              <a:pPr algn="l">
                <a:lnSpc>
                  <a:spcPts val="1709"/>
                </a:lnSpc>
              </a:pPr>
              <a:r>
                <a:rPr lang="en-US" sz="1425" b="true">
                  <a:solidFill>
                    <a:srgbClr val="11131A"/>
                  </a:solidFill>
                  <a:latin typeface="Calibri (MS) Bold"/>
                  <a:ea typeface="Calibri (MS) Bold"/>
                  <a:cs typeface="Calibri (MS) Bold"/>
                  <a:sym typeface="Calibri (MS) Bold"/>
                </a:rPr>
                <a:t>1K</a:t>
              </a:r>
            </a:p>
          </p:txBody>
        </p:sp>
      </p:grpSp>
      <p:grpSp>
        <p:nvGrpSpPr>
          <p:cNvPr name="Group 108" id="108"/>
          <p:cNvGrpSpPr/>
          <p:nvPr/>
        </p:nvGrpSpPr>
        <p:grpSpPr>
          <a:xfrm rot="0">
            <a:off x="11603736" y="3813048"/>
            <a:ext cx="5760720" cy="2441448"/>
            <a:chOff x="0" y="0"/>
            <a:chExt cx="7680960" cy="3255264"/>
          </a:xfrm>
        </p:grpSpPr>
        <p:sp>
          <p:nvSpPr>
            <p:cNvPr name="Freeform 109" id="109"/>
            <p:cNvSpPr/>
            <p:nvPr/>
          </p:nvSpPr>
          <p:spPr>
            <a:xfrm flipH="false" flipV="false" rot="0">
              <a:off x="0" y="0"/>
              <a:ext cx="7680961" cy="3255264"/>
            </a:xfrm>
            <a:custGeom>
              <a:avLst/>
              <a:gdLst/>
              <a:ahLst/>
              <a:cxnLst/>
              <a:rect r="r" b="b" t="t" l="l"/>
              <a:pathLst>
                <a:path h="3255264" w="7680961">
                  <a:moveTo>
                    <a:pt x="0" y="146304"/>
                  </a:moveTo>
                  <a:cubicBezTo>
                    <a:pt x="0" y="65532"/>
                    <a:pt x="65532" y="0"/>
                    <a:pt x="146304" y="0"/>
                  </a:cubicBezTo>
                  <a:lnTo>
                    <a:pt x="7534656" y="0"/>
                  </a:lnTo>
                  <a:cubicBezTo>
                    <a:pt x="7615428" y="0"/>
                    <a:pt x="7680961" y="65532"/>
                    <a:pt x="7680961" y="146304"/>
                  </a:cubicBezTo>
                  <a:lnTo>
                    <a:pt x="7680961" y="3108960"/>
                  </a:lnTo>
                  <a:cubicBezTo>
                    <a:pt x="7680961" y="3189732"/>
                    <a:pt x="7615428" y="3255264"/>
                    <a:pt x="7534656" y="3255264"/>
                  </a:cubicBezTo>
                  <a:lnTo>
                    <a:pt x="146304" y="3255264"/>
                  </a:lnTo>
                  <a:cubicBezTo>
                    <a:pt x="65532" y="3255264"/>
                    <a:pt x="0" y="3189732"/>
                    <a:pt x="0" y="3108960"/>
                  </a:cubicBezTo>
                  <a:close/>
                </a:path>
              </a:pathLst>
            </a:custGeom>
            <a:solidFill>
              <a:srgbClr val="F4F5F7"/>
            </a:solidFill>
          </p:spPr>
        </p:sp>
      </p:grpSp>
      <p:grpSp>
        <p:nvGrpSpPr>
          <p:cNvPr name="Group 110" id="110"/>
          <p:cNvGrpSpPr/>
          <p:nvPr/>
        </p:nvGrpSpPr>
        <p:grpSpPr>
          <a:xfrm rot="0">
            <a:off x="11823192" y="4005072"/>
            <a:ext cx="685800" cy="548640"/>
            <a:chOff x="0" y="0"/>
            <a:chExt cx="914400" cy="731520"/>
          </a:xfrm>
        </p:grpSpPr>
        <p:sp>
          <p:nvSpPr>
            <p:cNvPr name="Freeform 111" id="111"/>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12" id="112"/>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113" id="113"/>
          <p:cNvSpPr txBox="true"/>
          <p:nvPr/>
        </p:nvSpPr>
        <p:spPr>
          <a:xfrm rot="0">
            <a:off x="11823192" y="4489323"/>
            <a:ext cx="5321808" cy="55816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Cyber Crime Rises Every Year</a:t>
            </a:r>
          </a:p>
        </p:txBody>
      </p:sp>
      <p:sp>
        <p:nvSpPr>
          <p:cNvPr name="TextBox 114" id="114"/>
          <p:cNvSpPr txBox="true"/>
          <p:nvPr/>
        </p:nvSpPr>
        <p:spPr>
          <a:xfrm rot="0">
            <a:off x="11823192" y="5027295"/>
            <a:ext cx="5321808"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Steady growth 2019–2024, with the sharpest jump between 2022 and 2023.</a:t>
            </a:r>
          </a:p>
        </p:txBody>
      </p:sp>
      <p:grpSp>
        <p:nvGrpSpPr>
          <p:cNvPr name="Group 115" id="115"/>
          <p:cNvGrpSpPr/>
          <p:nvPr/>
        </p:nvGrpSpPr>
        <p:grpSpPr>
          <a:xfrm rot="0">
            <a:off x="11603736" y="6487668"/>
            <a:ext cx="5760720" cy="2441448"/>
            <a:chOff x="0" y="0"/>
            <a:chExt cx="7680960" cy="3255264"/>
          </a:xfrm>
        </p:grpSpPr>
        <p:sp>
          <p:nvSpPr>
            <p:cNvPr name="Freeform 116" id="116"/>
            <p:cNvSpPr/>
            <p:nvPr/>
          </p:nvSpPr>
          <p:spPr>
            <a:xfrm flipH="false" flipV="false" rot="0">
              <a:off x="0" y="0"/>
              <a:ext cx="7680961" cy="3255264"/>
            </a:xfrm>
            <a:custGeom>
              <a:avLst/>
              <a:gdLst/>
              <a:ahLst/>
              <a:cxnLst/>
              <a:rect r="r" b="b" t="t" l="l"/>
              <a:pathLst>
                <a:path h="3255264" w="7680961">
                  <a:moveTo>
                    <a:pt x="0" y="146304"/>
                  </a:moveTo>
                  <a:cubicBezTo>
                    <a:pt x="0" y="65532"/>
                    <a:pt x="65532" y="0"/>
                    <a:pt x="146304" y="0"/>
                  </a:cubicBezTo>
                  <a:lnTo>
                    <a:pt x="7534656" y="0"/>
                  </a:lnTo>
                  <a:cubicBezTo>
                    <a:pt x="7615428" y="0"/>
                    <a:pt x="7680961" y="65532"/>
                    <a:pt x="7680961" y="146304"/>
                  </a:cubicBezTo>
                  <a:lnTo>
                    <a:pt x="7680961" y="3108960"/>
                  </a:lnTo>
                  <a:cubicBezTo>
                    <a:pt x="7680961" y="3189732"/>
                    <a:pt x="7615428" y="3255264"/>
                    <a:pt x="7534656" y="3255264"/>
                  </a:cubicBezTo>
                  <a:lnTo>
                    <a:pt x="146304" y="3255264"/>
                  </a:lnTo>
                  <a:cubicBezTo>
                    <a:pt x="65532" y="3255264"/>
                    <a:pt x="0" y="3189732"/>
                    <a:pt x="0" y="3108960"/>
                  </a:cubicBezTo>
                  <a:close/>
                </a:path>
              </a:pathLst>
            </a:custGeom>
            <a:solidFill>
              <a:srgbClr val="F4F5F7"/>
            </a:solidFill>
          </p:spPr>
        </p:sp>
      </p:grpSp>
      <p:grpSp>
        <p:nvGrpSpPr>
          <p:cNvPr name="Group 117" id="117"/>
          <p:cNvGrpSpPr/>
          <p:nvPr/>
        </p:nvGrpSpPr>
        <p:grpSpPr>
          <a:xfrm rot="0">
            <a:off x="11823192" y="6679692"/>
            <a:ext cx="685800" cy="548640"/>
            <a:chOff x="0" y="0"/>
            <a:chExt cx="914400" cy="731520"/>
          </a:xfrm>
        </p:grpSpPr>
        <p:sp>
          <p:nvSpPr>
            <p:cNvPr name="Freeform 118" id="118"/>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19" id="119"/>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120" id="120"/>
          <p:cNvSpPr txBox="true"/>
          <p:nvPr/>
        </p:nvSpPr>
        <p:spPr>
          <a:xfrm rot="0">
            <a:off x="11823192" y="7163943"/>
            <a:ext cx="5321808" cy="558165"/>
          </a:xfrm>
          <a:prstGeom prst="rect">
            <a:avLst/>
          </a:prstGeom>
        </p:spPr>
        <p:txBody>
          <a:bodyPr anchor="t" rtlCol="false" tIns="0" lIns="0" bIns="0" rIns="0">
            <a:spAutoFit/>
          </a:bodyPr>
          <a:lstStyle/>
          <a:p>
            <a:pPr algn="l">
              <a:lnSpc>
                <a:spcPts val="2250"/>
              </a:lnSpc>
            </a:pPr>
            <a:r>
              <a:rPr lang="en-US" b="true" sz="1875" spc="14">
                <a:solidFill>
                  <a:srgbClr val="1F9D8A"/>
                </a:solidFill>
                <a:latin typeface="TT Phobos Bold"/>
                <a:ea typeface="TT Phobos Bold"/>
                <a:cs typeface="TT Phobos Bold"/>
                <a:sym typeface="TT Phobos Bold"/>
              </a:rPr>
              <a:t>80% from Just 2 Categories</a:t>
            </a:r>
          </a:p>
        </p:txBody>
      </p:sp>
      <p:sp>
        <p:nvSpPr>
          <p:cNvPr name="TextBox 121" id="121"/>
          <p:cNvSpPr txBox="true"/>
          <p:nvPr/>
        </p:nvSpPr>
        <p:spPr>
          <a:xfrm rot="0">
            <a:off x="11823192" y="7701915"/>
            <a:ext cx="5321808" cy="1035177"/>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Fraud and Online Fraud alone account for over 80% of complaints — a classic Pareto pattern.</a:t>
            </a:r>
          </a:p>
        </p:txBody>
      </p:sp>
      <p:sp>
        <p:nvSpPr>
          <p:cNvPr name="TextBox 122" id="122"/>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KEY INSIGHTS</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Crime Composition &amp; Distribution</a:t>
            </a:r>
          </a:p>
        </p:txBody>
      </p:sp>
      <p:pic>
        <p:nvPicPr>
          <p:cNvPr name="Picture 7" id="7"/>
          <p:cNvPicPr>
            <a:picLocks noChangeAspect="true"/>
          </p:cNvPicPr>
          <p:nvPr/>
        </p:nvPicPr>
        <p:blipFill>
          <a:blip r:embed="rId4"/>
          <a:stretch>
            <a:fillRect/>
          </a:stretch>
        </p:blipFill>
        <p:spPr>
          <a:xfrm rot="0">
            <a:off x="192024" y="1481328"/>
            <a:ext cx="8887968" cy="7516368"/>
          </a:xfrm>
          <a:prstGeom prst="rect">
            <a:avLst/>
          </a:prstGeom>
        </p:spPr>
      </p:pic>
      <p:grpSp>
        <p:nvGrpSpPr>
          <p:cNvPr name="Group 8" id="8"/>
          <p:cNvGrpSpPr/>
          <p:nvPr/>
        </p:nvGrpSpPr>
        <p:grpSpPr>
          <a:xfrm rot="0">
            <a:off x="8915400" y="2221992"/>
            <a:ext cx="8435340" cy="1810512"/>
            <a:chOff x="0" y="0"/>
            <a:chExt cx="11247120" cy="2414016"/>
          </a:xfrm>
        </p:grpSpPr>
        <p:sp>
          <p:nvSpPr>
            <p:cNvPr name="Freeform 9" id="9"/>
            <p:cNvSpPr/>
            <p:nvPr/>
          </p:nvSpPr>
          <p:spPr>
            <a:xfrm flipH="false" flipV="false" rot="0">
              <a:off x="0" y="0"/>
              <a:ext cx="11247120" cy="2414016"/>
            </a:xfrm>
            <a:custGeom>
              <a:avLst/>
              <a:gdLst/>
              <a:ahLst/>
              <a:cxnLst/>
              <a:rect r="r" b="b" t="t" l="l"/>
              <a:pathLst>
                <a:path h="2414016" w="11247120">
                  <a:moveTo>
                    <a:pt x="0" y="146304"/>
                  </a:moveTo>
                  <a:cubicBezTo>
                    <a:pt x="0" y="65532"/>
                    <a:pt x="65532" y="0"/>
                    <a:pt x="146304" y="0"/>
                  </a:cubicBezTo>
                  <a:lnTo>
                    <a:pt x="11100816" y="0"/>
                  </a:lnTo>
                  <a:cubicBezTo>
                    <a:pt x="11181588" y="0"/>
                    <a:pt x="11247120" y="65532"/>
                    <a:pt x="11247120" y="146304"/>
                  </a:cubicBezTo>
                  <a:lnTo>
                    <a:pt x="11247120" y="2267712"/>
                  </a:lnTo>
                  <a:cubicBezTo>
                    <a:pt x="11247120" y="2348484"/>
                    <a:pt x="11181588" y="2414016"/>
                    <a:pt x="11100816" y="2414016"/>
                  </a:cubicBezTo>
                  <a:lnTo>
                    <a:pt x="146304" y="2414016"/>
                  </a:lnTo>
                  <a:cubicBezTo>
                    <a:pt x="65532" y="2414016"/>
                    <a:pt x="0" y="2348484"/>
                    <a:pt x="0" y="2267712"/>
                  </a:cubicBezTo>
                  <a:close/>
                </a:path>
              </a:pathLst>
            </a:custGeom>
            <a:solidFill>
              <a:srgbClr val="F4F5F7"/>
            </a:solidFill>
          </p:spPr>
        </p:sp>
      </p:grpSp>
      <p:grpSp>
        <p:nvGrpSpPr>
          <p:cNvPr name="Group 10" id="10"/>
          <p:cNvGrpSpPr/>
          <p:nvPr/>
        </p:nvGrpSpPr>
        <p:grpSpPr>
          <a:xfrm rot="0">
            <a:off x="9134856" y="2414016"/>
            <a:ext cx="685800" cy="548640"/>
            <a:chOff x="0" y="0"/>
            <a:chExt cx="914400" cy="731520"/>
          </a:xfrm>
        </p:grpSpPr>
        <p:sp>
          <p:nvSpPr>
            <p:cNvPr name="Freeform 11" id="11"/>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2" id="12"/>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13" id="13"/>
          <p:cNvSpPr txBox="true"/>
          <p:nvPr/>
        </p:nvSpPr>
        <p:spPr>
          <a:xfrm rot="0">
            <a:off x="9134856" y="2898267"/>
            <a:ext cx="7996428" cy="55816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Cheating Offences Dominate</a:t>
            </a:r>
          </a:p>
        </p:txBody>
      </p:sp>
      <p:sp>
        <p:nvSpPr>
          <p:cNvPr name="TextBox 14" id="14"/>
          <p:cNvSpPr txBox="true"/>
          <p:nvPr/>
        </p:nvSpPr>
        <p:spPr>
          <a:xfrm rot="0">
            <a:off x="9134856" y="3436239"/>
            <a:ext cx="7996428" cy="404241"/>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Cheating + Other Cheating together make up over 80% of all cyber crime heads combined.</a:t>
            </a:r>
          </a:p>
        </p:txBody>
      </p:sp>
      <p:grpSp>
        <p:nvGrpSpPr>
          <p:cNvPr name="Group 15" id="15"/>
          <p:cNvGrpSpPr/>
          <p:nvPr/>
        </p:nvGrpSpPr>
        <p:grpSpPr>
          <a:xfrm rot="0">
            <a:off x="8915400" y="4251960"/>
            <a:ext cx="8435340" cy="1810512"/>
            <a:chOff x="0" y="0"/>
            <a:chExt cx="11247120" cy="2414016"/>
          </a:xfrm>
        </p:grpSpPr>
        <p:sp>
          <p:nvSpPr>
            <p:cNvPr name="Freeform 16" id="16"/>
            <p:cNvSpPr/>
            <p:nvPr/>
          </p:nvSpPr>
          <p:spPr>
            <a:xfrm flipH="false" flipV="false" rot="0">
              <a:off x="0" y="0"/>
              <a:ext cx="11247120" cy="2414016"/>
            </a:xfrm>
            <a:custGeom>
              <a:avLst/>
              <a:gdLst/>
              <a:ahLst/>
              <a:cxnLst/>
              <a:rect r="r" b="b" t="t" l="l"/>
              <a:pathLst>
                <a:path h="2414016" w="11247120">
                  <a:moveTo>
                    <a:pt x="0" y="146304"/>
                  </a:moveTo>
                  <a:cubicBezTo>
                    <a:pt x="0" y="65532"/>
                    <a:pt x="65532" y="0"/>
                    <a:pt x="146304" y="0"/>
                  </a:cubicBezTo>
                  <a:lnTo>
                    <a:pt x="11100816" y="0"/>
                  </a:lnTo>
                  <a:cubicBezTo>
                    <a:pt x="11181588" y="0"/>
                    <a:pt x="11247120" y="65532"/>
                    <a:pt x="11247120" y="146304"/>
                  </a:cubicBezTo>
                  <a:lnTo>
                    <a:pt x="11247120" y="2267712"/>
                  </a:lnTo>
                  <a:cubicBezTo>
                    <a:pt x="11247120" y="2348484"/>
                    <a:pt x="11181588" y="2414016"/>
                    <a:pt x="11100816" y="2414016"/>
                  </a:cubicBezTo>
                  <a:lnTo>
                    <a:pt x="146304" y="2414016"/>
                  </a:lnTo>
                  <a:cubicBezTo>
                    <a:pt x="65532" y="2414016"/>
                    <a:pt x="0" y="2348484"/>
                    <a:pt x="0" y="2267712"/>
                  </a:cubicBezTo>
                  <a:close/>
                </a:path>
              </a:pathLst>
            </a:custGeom>
            <a:solidFill>
              <a:srgbClr val="F4F5F7"/>
            </a:solidFill>
          </p:spPr>
        </p:sp>
      </p:grpSp>
      <p:grpSp>
        <p:nvGrpSpPr>
          <p:cNvPr name="Group 17" id="17"/>
          <p:cNvGrpSpPr/>
          <p:nvPr/>
        </p:nvGrpSpPr>
        <p:grpSpPr>
          <a:xfrm rot="0">
            <a:off x="9134856" y="4443984"/>
            <a:ext cx="685800" cy="548640"/>
            <a:chOff x="0" y="0"/>
            <a:chExt cx="914400" cy="731520"/>
          </a:xfrm>
        </p:grpSpPr>
        <p:sp>
          <p:nvSpPr>
            <p:cNvPr name="Freeform 18" id="18"/>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9" id="19"/>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20" id="20"/>
          <p:cNvSpPr txBox="true"/>
          <p:nvPr/>
        </p:nvSpPr>
        <p:spPr>
          <a:xfrm rot="0">
            <a:off x="9134856" y="4928235"/>
            <a:ext cx="7996428" cy="558165"/>
          </a:xfrm>
          <a:prstGeom prst="rect">
            <a:avLst/>
          </a:prstGeom>
        </p:spPr>
        <p:txBody>
          <a:bodyPr anchor="t" rtlCol="false" tIns="0" lIns="0" bIns="0" rIns="0">
            <a:spAutoFit/>
          </a:bodyPr>
          <a:lstStyle/>
          <a:p>
            <a:pPr algn="l">
              <a:lnSpc>
                <a:spcPts val="2250"/>
              </a:lnSpc>
            </a:pPr>
            <a:r>
              <a:rPr lang="en-US" b="true" sz="1875" spc="14">
                <a:solidFill>
                  <a:srgbClr val="1F9D8A"/>
                </a:solidFill>
                <a:latin typeface="TT Phobos Bold"/>
                <a:ea typeface="TT Phobos Bold"/>
                <a:cs typeface="TT Phobos Bold"/>
                <a:sym typeface="TT Phobos Bold"/>
              </a:rPr>
              <a:t>High-Impact Minority Categories</a:t>
            </a:r>
          </a:p>
        </p:txBody>
      </p:sp>
      <p:sp>
        <p:nvSpPr>
          <p:cNvPr name="TextBox 21" id="21"/>
          <p:cNvSpPr txBox="true"/>
          <p:nvPr/>
        </p:nvSpPr>
        <p:spPr>
          <a:xfrm rot="0">
            <a:off x="9134856" y="5466207"/>
            <a:ext cx="7996428" cy="404241"/>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Online Banking Fraud and Identity Theft together account for ~11% — smaller but high-impact.</a:t>
            </a:r>
          </a:p>
        </p:txBody>
      </p:sp>
      <p:grpSp>
        <p:nvGrpSpPr>
          <p:cNvPr name="Group 22" id="22"/>
          <p:cNvGrpSpPr/>
          <p:nvPr/>
        </p:nvGrpSpPr>
        <p:grpSpPr>
          <a:xfrm rot="0">
            <a:off x="8915400" y="6281928"/>
            <a:ext cx="8435340" cy="1810512"/>
            <a:chOff x="0" y="0"/>
            <a:chExt cx="11247120" cy="2414016"/>
          </a:xfrm>
        </p:grpSpPr>
        <p:sp>
          <p:nvSpPr>
            <p:cNvPr name="Freeform 23" id="23"/>
            <p:cNvSpPr/>
            <p:nvPr/>
          </p:nvSpPr>
          <p:spPr>
            <a:xfrm flipH="false" flipV="false" rot="0">
              <a:off x="0" y="0"/>
              <a:ext cx="11247120" cy="2414016"/>
            </a:xfrm>
            <a:custGeom>
              <a:avLst/>
              <a:gdLst/>
              <a:ahLst/>
              <a:cxnLst/>
              <a:rect r="r" b="b" t="t" l="l"/>
              <a:pathLst>
                <a:path h="2414016" w="11247120">
                  <a:moveTo>
                    <a:pt x="0" y="146304"/>
                  </a:moveTo>
                  <a:cubicBezTo>
                    <a:pt x="0" y="65532"/>
                    <a:pt x="65532" y="0"/>
                    <a:pt x="146304" y="0"/>
                  </a:cubicBezTo>
                  <a:lnTo>
                    <a:pt x="11100816" y="0"/>
                  </a:lnTo>
                  <a:cubicBezTo>
                    <a:pt x="11181588" y="0"/>
                    <a:pt x="11247120" y="65532"/>
                    <a:pt x="11247120" y="146304"/>
                  </a:cubicBezTo>
                  <a:lnTo>
                    <a:pt x="11247120" y="2267712"/>
                  </a:lnTo>
                  <a:cubicBezTo>
                    <a:pt x="11247120" y="2348484"/>
                    <a:pt x="11181588" y="2414016"/>
                    <a:pt x="11100816" y="2414016"/>
                  </a:cubicBezTo>
                  <a:lnTo>
                    <a:pt x="146304" y="2414016"/>
                  </a:lnTo>
                  <a:cubicBezTo>
                    <a:pt x="65532" y="2414016"/>
                    <a:pt x="0" y="2348484"/>
                    <a:pt x="0" y="2267712"/>
                  </a:cubicBezTo>
                  <a:close/>
                </a:path>
              </a:pathLst>
            </a:custGeom>
            <a:solidFill>
              <a:srgbClr val="F4F5F7"/>
            </a:solidFill>
          </p:spPr>
        </p:sp>
      </p:grpSp>
      <p:grpSp>
        <p:nvGrpSpPr>
          <p:cNvPr name="Group 24" id="24"/>
          <p:cNvGrpSpPr/>
          <p:nvPr/>
        </p:nvGrpSpPr>
        <p:grpSpPr>
          <a:xfrm rot="0">
            <a:off x="9134856" y="6473952"/>
            <a:ext cx="685800" cy="548640"/>
            <a:chOff x="0" y="0"/>
            <a:chExt cx="914400" cy="731520"/>
          </a:xfrm>
        </p:grpSpPr>
        <p:sp>
          <p:nvSpPr>
            <p:cNvPr name="Freeform 25" id="25"/>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26" id="26"/>
            <p:cNvSpPr txBox="true"/>
            <p:nvPr/>
          </p:nvSpPr>
          <p:spPr>
            <a:xfrm>
              <a:off x="0" y="-57150"/>
              <a:ext cx="914400" cy="788670"/>
            </a:xfrm>
            <a:prstGeom prst="rect">
              <a:avLst/>
            </a:prstGeom>
          </p:spPr>
          <p:txBody>
            <a:bodyPr anchor="ctr" rtlCol="false" tIns="0" lIns="0" bIns="0" rIns="0"/>
            <a:lstStyle/>
            <a:p>
              <a:pPr algn="l">
                <a:lnSpc>
                  <a:spcPts val="2700"/>
                </a:lnSpc>
              </a:pPr>
              <a:r>
                <a:rPr lang="en-US" sz="2250">
                  <a:solidFill>
                    <a:srgbClr val="000000"/>
                  </a:solidFill>
                  <a:latin typeface="Calibri (MS)"/>
                  <a:ea typeface="Calibri (MS)"/>
                  <a:cs typeface="Calibri (MS)"/>
                  <a:sym typeface="Calibri (MS)"/>
                </a:rPr>
                <a:t>📊</a:t>
              </a:r>
            </a:p>
          </p:txBody>
        </p:sp>
      </p:grpSp>
      <p:sp>
        <p:nvSpPr>
          <p:cNvPr name="TextBox 27" id="27"/>
          <p:cNvSpPr txBox="true"/>
          <p:nvPr/>
        </p:nvSpPr>
        <p:spPr>
          <a:xfrm rot="0">
            <a:off x="9134856" y="6958203"/>
            <a:ext cx="7996428" cy="558165"/>
          </a:xfrm>
          <a:prstGeom prst="rect">
            <a:avLst/>
          </a:prstGeom>
        </p:spPr>
        <p:txBody>
          <a:bodyPr anchor="t" rtlCol="false" tIns="0" lIns="0" bIns="0" rIns="0">
            <a:spAutoFit/>
          </a:bodyPr>
          <a:lstStyle/>
          <a:p>
            <a:pPr algn="l">
              <a:lnSpc>
                <a:spcPts val="2250"/>
              </a:lnSpc>
            </a:pPr>
            <a:r>
              <a:rPr lang="en-US" b="true" sz="1875" spc="14">
                <a:solidFill>
                  <a:srgbClr val="C23B3B"/>
                </a:solidFill>
                <a:latin typeface="TT Phobos Bold"/>
                <a:ea typeface="TT Phobos Bold"/>
                <a:cs typeface="TT Phobos Bold"/>
                <a:sym typeface="TT Phobos Bold"/>
              </a:rPr>
              <a:t>Consistent Across States</a:t>
            </a:r>
          </a:p>
        </p:txBody>
      </p:sp>
      <p:sp>
        <p:nvSpPr>
          <p:cNvPr name="TextBox 28" id="28"/>
          <p:cNvSpPr txBox="true"/>
          <p:nvPr/>
        </p:nvSpPr>
        <p:spPr>
          <a:xfrm rot="0">
            <a:off x="9134856" y="7496175"/>
            <a:ext cx="7996428" cy="404241"/>
          </a:xfrm>
          <a:prstGeom prst="rect">
            <a:avLst/>
          </a:prstGeom>
        </p:spPr>
        <p:txBody>
          <a:bodyPr anchor="t" rtlCol="false" tIns="0" lIns="0" bIns="0" rIns="0">
            <a:spAutoFit/>
          </a:bodyPr>
          <a:lstStyle/>
          <a:p>
            <a:pPr algn="l">
              <a:lnSpc>
                <a:spcPts val="2154"/>
              </a:lnSpc>
            </a:pPr>
            <a:r>
              <a:rPr lang="en-US" sz="1575">
                <a:solidFill>
                  <a:srgbClr val="4A4A52"/>
                </a:solidFill>
                <a:latin typeface="Calibri (MS)"/>
                <a:ea typeface="Calibri (MS)"/>
                <a:cs typeface="Calibri (MS)"/>
                <a:sym typeface="Calibri (MS)"/>
              </a:rPr>
              <a:t>Crime Against Women dominates the domain breakdown in 8 of the top 10 states.</a:t>
            </a:r>
          </a:p>
        </p:txBody>
      </p:sp>
      <p:sp>
        <p:nvSpPr>
          <p:cNvPr name="TextBox 29" id="29"/>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 id="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A3A3AC"/>
                  </a:solidFill>
                  <a:latin typeface="Calibri (MS)"/>
                  <a:ea typeface="Calibri (MS)"/>
                  <a:cs typeface="Calibri (MS)"/>
                  <a:sym typeface="Calibri (MS)"/>
                </a:rPr>
                <a:t>India Crime Intelligence Dashboard</a:t>
              </a:r>
            </a:p>
          </p:txBody>
        </p:sp>
      </p:grpSp>
      <p:sp>
        <p:nvSpPr>
          <p:cNvPr name="TextBox 5" id="5"/>
          <p:cNvSpPr txBox="true"/>
          <p:nvPr/>
        </p:nvSpPr>
        <p:spPr>
          <a:xfrm rot="0">
            <a:off x="1051560" y="583692"/>
            <a:ext cx="10789920" cy="426720"/>
          </a:xfrm>
          <a:prstGeom prst="rect">
            <a:avLst/>
          </a:prstGeom>
        </p:spPr>
        <p:txBody>
          <a:bodyPr anchor="t" rtlCol="false" tIns="0" lIns="0" bIns="0" rIns="0">
            <a:spAutoFit/>
          </a:bodyPr>
          <a:lstStyle/>
          <a:p>
            <a:pPr algn="l">
              <a:lnSpc>
                <a:spcPts val="2070"/>
              </a:lnSpc>
            </a:pPr>
            <a:r>
              <a:rPr lang="en-US" b="true" sz="1725" spc="299">
                <a:solidFill>
                  <a:srgbClr val="E8A33D"/>
                </a:solidFill>
                <a:latin typeface="Calibri (MS) Bold"/>
                <a:ea typeface="Calibri (MS) Bold"/>
                <a:cs typeface="Calibri (MS) Bold"/>
                <a:sym typeface="Calibri (MS) Bold"/>
              </a:rPr>
              <a:t>CONCLUSION</a:t>
            </a:r>
          </a:p>
        </p:txBody>
      </p:sp>
      <p:sp>
        <p:nvSpPr>
          <p:cNvPr name="TextBox 6" id="6"/>
          <p:cNvSpPr txBox="true"/>
          <p:nvPr/>
        </p:nvSpPr>
        <p:spPr>
          <a:xfrm rot="0">
            <a:off x="1024128" y="1070229"/>
            <a:ext cx="14630400" cy="749427"/>
          </a:xfrm>
          <a:prstGeom prst="rect">
            <a:avLst/>
          </a:prstGeom>
        </p:spPr>
        <p:txBody>
          <a:bodyPr anchor="t" rtlCol="false" tIns="0" lIns="0" bIns="0" rIns="0">
            <a:spAutoFit/>
          </a:bodyPr>
          <a:lstStyle/>
          <a:p>
            <a:pPr algn="l">
              <a:lnSpc>
                <a:spcPts val="4680"/>
              </a:lnSpc>
            </a:pPr>
            <a:r>
              <a:rPr lang="en-US" b="true" sz="3900" spc="30">
                <a:solidFill>
                  <a:srgbClr val="11131A"/>
                </a:solidFill>
                <a:latin typeface="TT Phobos Bold"/>
                <a:ea typeface="TT Phobos Bold"/>
                <a:cs typeface="TT Phobos Bold"/>
                <a:sym typeface="TT Phobos Bold"/>
              </a:rPr>
              <a:t>What the Data — and the Build — Tell Us</a:t>
            </a:r>
          </a:p>
        </p:txBody>
      </p:sp>
      <p:grpSp>
        <p:nvGrpSpPr>
          <p:cNvPr name="Group 7" id="7"/>
          <p:cNvGrpSpPr/>
          <p:nvPr/>
        </p:nvGrpSpPr>
        <p:grpSpPr>
          <a:xfrm rot="0">
            <a:off x="932688" y="2221992"/>
            <a:ext cx="5266944" cy="3429000"/>
            <a:chOff x="0" y="0"/>
            <a:chExt cx="7022592" cy="4572000"/>
          </a:xfrm>
        </p:grpSpPr>
        <p:sp>
          <p:nvSpPr>
            <p:cNvPr name="Freeform 8" id="8"/>
            <p:cNvSpPr/>
            <p:nvPr/>
          </p:nvSpPr>
          <p:spPr>
            <a:xfrm flipH="false" flipV="false" rot="0">
              <a:off x="0" y="0"/>
              <a:ext cx="7022592" cy="4572000"/>
            </a:xfrm>
            <a:custGeom>
              <a:avLst/>
              <a:gdLst/>
              <a:ahLst/>
              <a:cxnLst/>
              <a:rect r="r" b="b" t="t" l="l"/>
              <a:pathLst>
                <a:path h="4572000" w="7022592">
                  <a:moveTo>
                    <a:pt x="0" y="146304"/>
                  </a:moveTo>
                  <a:cubicBezTo>
                    <a:pt x="0" y="65532"/>
                    <a:pt x="65532" y="0"/>
                    <a:pt x="146304" y="0"/>
                  </a:cubicBezTo>
                  <a:lnTo>
                    <a:pt x="6876288" y="0"/>
                  </a:lnTo>
                  <a:cubicBezTo>
                    <a:pt x="6957060" y="0"/>
                    <a:pt x="7022592" y="65532"/>
                    <a:pt x="7022592" y="146304"/>
                  </a:cubicBezTo>
                  <a:lnTo>
                    <a:pt x="7022592" y="4425696"/>
                  </a:lnTo>
                  <a:cubicBezTo>
                    <a:pt x="7022592" y="4506468"/>
                    <a:pt x="6957060" y="4572000"/>
                    <a:pt x="6876288" y="4572000"/>
                  </a:cubicBezTo>
                  <a:lnTo>
                    <a:pt x="146304" y="4572000"/>
                  </a:lnTo>
                  <a:cubicBezTo>
                    <a:pt x="65532" y="4572000"/>
                    <a:pt x="0" y="4506468"/>
                    <a:pt x="0" y="4425696"/>
                  </a:cubicBezTo>
                  <a:close/>
                </a:path>
              </a:pathLst>
            </a:custGeom>
            <a:solidFill>
              <a:srgbClr val="F4F5F7"/>
            </a:solidFill>
          </p:spPr>
        </p:sp>
      </p:grpSp>
      <p:grpSp>
        <p:nvGrpSpPr>
          <p:cNvPr name="Group 9" id="9"/>
          <p:cNvGrpSpPr/>
          <p:nvPr/>
        </p:nvGrpSpPr>
        <p:grpSpPr>
          <a:xfrm rot="0">
            <a:off x="1152144" y="2414016"/>
            <a:ext cx="685800" cy="548640"/>
            <a:chOff x="0" y="0"/>
            <a:chExt cx="914400" cy="731520"/>
          </a:xfrm>
        </p:grpSpPr>
        <p:sp>
          <p:nvSpPr>
            <p:cNvPr name="Freeform 10" id="10"/>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1" id="11"/>
            <p:cNvSpPr txBox="true"/>
            <p:nvPr/>
          </p:nvSpPr>
          <p:spPr>
            <a:xfrm>
              <a:off x="0" y="-38100"/>
              <a:ext cx="914400" cy="76962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a:t>
              </a:r>
            </a:p>
          </p:txBody>
        </p:sp>
      </p:grpSp>
      <p:sp>
        <p:nvSpPr>
          <p:cNvPr name="TextBox 12" id="12"/>
          <p:cNvSpPr txBox="true"/>
          <p:nvPr/>
        </p:nvSpPr>
        <p:spPr>
          <a:xfrm rot="0">
            <a:off x="1152144" y="2898267"/>
            <a:ext cx="4828032" cy="69532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Crime Volume is Rising</a:t>
            </a:r>
          </a:p>
        </p:txBody>
      </p:sp>
      <p:sp>
        <p:nvSpPr>
          <p:cNvPr name="TextBox 13" id="13"/>
          <p:cNvSpPr txBox="true"/>
          <p:nvPr/>
        </p:nvSpPr>
        <p:spPr>
          <a:xfrm rot="0">
            <a:off x="1152144" y="3536442"/>
            <a:ext cx="4828032" cy="1428750"/>
          </a:xfrm>
          <a:prstGeom prst="rect">
            <a:avLst/>
          </a:prstGeom>
        </p:spPr>
        <p:txBody>
          <a:bodyPr anchor="t" rtlCol="false" tIns="0" lIns="0" bIns="0" rIns="0">
            <a:spAutoFit/>
          </a:bodyPr>
          <a:lstStyle/>
          <a:p>
            <a:pPr algn="l">
              <a:lnSpc>
                <a:spcPts val="2016"/>
              </a:lnSpc>
            </a:pPr>
            <a:r>
              <a:rPr lang="en-US" sz="1500">
                <a:solidFill>
                  <a:srgbClr val="4A4A52"/>
                </a:solidFill>
                <a:latin typeface="Calibri (MS)"/>
                <a:ea typeface="Calibri (MS)"/>
                <a:cs typeface="Calibri (MS)"/>
                <a:sym typeface="Calibri (MS)"/>
              </a:rPr>
              <a:t>Total crime up 7.2% YoY to 6.24M cases, with Uttar Pradesh alone contributing nearly 13% of the national total.</a:t>
            </a:r>
          </a:p>
        </p:txBody>
      </p:sp>
      <p:sp>
        <p:nvSpPr>
          <p:cNvPr name="TextBox 14" id="14"/>
          <p:cNvSpPr txBox="true"/>
          <p:nvPr/>
        </p:nvSpPr>
        <p:spPr>
          <a:xfrm rot="0">
            <a:off x="1152144" y="4752975"/>
            <a:ext cx="4828032" cy="802005"/>
          </a:xfrm>
          <a:prstGeom prst="rect">
            <a:avLst/>
          </a:prstGeom>
        </p:spPr>
        <p:txBody>
          <a:bodyPr anchor="t" rtlCol="false" tIns="0" lIns="0" bIns="0" rIns="0">
            <a:spAutoFit/>
          </a:bodyPr>
          <a:lstStyle/>
          <a:p>
            <a:pPr algn="l">
              <a:lnSpc>
                <a:spcPts val="1881"/>
              </a:lnSpc>
            </a:pPr>
            <a:r>
              <a:rPr lang="en-US" sz="1425" i="true">
                <a:solidFill>
                  <a:srgbClr val="E8A33D"/>
                </a:solidFill>
                <a:latin typeface="Calibri (MS) Italics"/>
                <a:ea typeface="Calibri (MS) Italics"/>
                <a:cs typeface="Calibri (MS) Italics"/>
                <a:sym typeface="Calibri (MS) Italics"/>
              </a:rPr>
              <a:t>→ Prioritise UP, Maharashtra and Kerala — they consistently lead in volume.</a:t>
            </a:r>
          </a:p>
        </p:txBody>
      </p:sp>
      <p:grpSp>
        <p:nvGrpSpPr>
          <p:cNvPr name="Group 15" id="15"/>
          <p:cNvGrpSpPr/>
          <p:nvPr/>
        </p:nvGrpSpPr>
        <p:grpSpPr>
          <a:xfrm rot="0">
            <a:off x="6446520" y="2221992"/>
            <a:ext cx="5266944" cy="3429000"/>
            <a:chOff x="0" y="0"/>
            <a:chExt cx="7022592" cy="4572000"/>
          </a:xfrm>
        </p:grpSpPr>
        <p:sp>
          <p:nvSpPr>
            <p:cNvPr name="Freeform 16" id="16"/>
            <p:cNvSpPr/>
            <p:nvPr/>
          </p:nvSpPr>
          <p:spPr>
            <a:xfrm flipH="false" flipV="false" rot="0">
              <a:off x="0" y="0"/>
              <a:ext cx="7022592" cy="4572000"/>
            </a:xfrm>
            <a:custGeom>
              <a:avLst/>
              <a:gdLst/>
              <a:ahLst/>
              <a:cxnLst/>
              <a:rect r="r" b="b" t="t" l="l"/>
              <a:pathLst>
                <a:path h="4572000" w="7022592">
                  <a:moveTo>
                    <a:pt x="0" y="146304"/>
                  </a:moveTo>
                  <a:cubicBezTo>
                    <a:pt x="0" y="65532"/>
                    <a:pt x="65532" y="0"/>
                    <a:pt x="146304" y="0"/>
                  </a:cubicBezTo>
                  <a:lnTo>
                    <a:pt x="6876288" y="0"/>
                  </a:lnTo>
                  <a:cubicBezTo>
                    <a:pt x="6957060" y="0"/>
                    <a:pt x="7022592" y="65532"/>
                    <a:pt x="7022592" y="146304"/>
                  </a:cubicBezTo>
                  <a:lnTo>
                    <a:pt x="7022592" y="4425696"/>
                  </a:lnTo>
                  <a:cubicBezTo>
                    <a:pt x="7022592" y="4506468"/>
                    <a:pt x="6957060" y="4572000"/>
                    <a:pt x="6876288" y="4572000"/>
                  </a:cubicBezTo>
                  <a:lnTo>
                    <a:pt x="146304" y="4572000"/>
                  </a:lnTo>
                  <a:cubicBezTo>
                    <a:pt x="65532" y="4572000"/>
                    <a:pt x="0" y="4506468"/>
                    <a:pt x="0" y="4425696"/>
                  </a:cubicBezTo>
                  <a:close/>
                </a:path>
              </a:pathLst>
            </a:custGeom>
            <a:solidFill>
              <a:srgbClr val="F4F5F7"/>
            </a:solidFill>
          </p:spPr>
        </p:sp>
      </p:grpSp>
      <p:grpSp>
        <p:nvGrpSpPr>
          <p:cNvPr name="Group 17" id="17"/>
          <p:cNvGrpSpPr/>
          <p:nvPr/>
        </p:nvGrpSpPr>
        <p:grpSpPr>
          <a:xfrm rot="0">
            <a:off x="6665976" y="2414016"/>
            <a:ext cx="685800" cy="548640"/>
            <a:chOff x="0" y="0"/>
            <a:chExt cx="914400" cy="731520"/>
          </a:xfrm>
        </p:grpSpPr>
        <p:sp>
          <p:nvSpPr>
            <p:cNvPr name="Freeform 18" id="18"/>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19" id="19"/>
            <p:cNvSpPr txBox="true"/>
            <p:nvPr/>
          </p:nvSpPr>
          <p:spPr>
            <a:xfrm>
              <a:off x="0" y="-38100"/>
              <a:ext cx="914400" cy="76962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a:t>
              </a:r>
            </a:p>
          </p:txBody>
        </p:sp>
      </p:grpSp>
      <p:sp>
        <p:nvSpPr>
          <p:cNvPr name="TextBox 20" id="20"/>
          <p:cNvSpPr txBox="true"/>
          <p:nvPr/>
        </p:nvSpPr>
        <p:spPr>
          <a:xfrm rot="0">
            <a:off x="6665976" y="2898267"/>
            <a:ext cx="4828032" cy="695325"/>
          </a:xfrm>
          <a:prstGeom prst="rect">
            <a:avLst/>
          </a:prstGeom>
        </p:spPr>
        <p:txBody>
          <a:bodyPr anchor="t" rtlCol="false" tIns="0" lIns="0" bIns="0" rIns="0">
            <a:spAutoFit/>
          </a:bodyPr>
          <a:lstStyle/>
          <a:p>
            <a:pPr algn="l">
              <a:lnSpc>
                <a:spcPts val="2250"/>
              </a:lnSpc>
            </a:pPr>
            <a:r>
              <a:rPr lang="en-US" b="true" sz="1875" spc="14">
                <a:solidFill>
                  <a:srgbClr val="1F9D8A"/>
                </a:solidFill>
                <a:latin typeface="TT Phobos Bold"/>
                <a:ea typeface="TT Phobos Bold"/>
                <a:cs typeface="TT Phobos Bold"/>
                <a:sym typeface="TT Phobos Bold"/>
              </a:rPr>
              <a:t>Cyber Crime is the Fastest-Growing Threat</a:t>
            </a:r>
          </a:p>
        </p:txBody>
      </p:sp>
      <p:sp>
        <p:nvSpPr>
          <p:cNvPr name="TextBox 21" id="21"/>
          <p:cNvSpPr txBox="true"/>
          <p:nvPr/>
        </p:nvSpPr>
        <p:spPr>
          <a:xfrm rot="0">
            <a:off x="6665976" y="3536442"/>
            <a:ext cx="4828032" cy="1428750"/>
          </a:xfrm>
          <a:prstGeom prst="rect">
            <a:avLst/>
          </a:prstGeom>
        </p:spPr>
        <p:txBody>
          <a:bodyPr anchor="t" rtlCol="false" tIns="0" lIns="0" bIns="0" rIns="0">
            <a:spAutoFit/>
          </a:bodyPr>
          <a:lstStyle/>
          <a:p>
            <a:pPr algn="l">
              <a:lnSpc>
                <a:spcPts val="2016"/>
              </a:lnSpc>
            </a:pPr>
            <a:r>
              <a:rPr lang="en-US" sz="1500">
                <a:solidFill>
                  <a:srgbClr val="4A4A52"/>
                </a:solidFill>
                <a:latin typeface="Calibri (MS)"/>
                <a:ea typeface="Calibri (MS)"/>
                <a:cs typeface="Calibri (MS)"/>
                <a:sym typeface="Calibri (MS)"/>
              </a:rPr>
              <a:t>Cases more than doubled from 44,546 (2019) to 101,928 (2024), accelerating sharply after 2021.</a:t>
            </a:r>
          </a:p>
        </p:txBody>
      </p:sp>
      <p:sp>
        <p:nvSpPr>
          <p:cNvPr name="TextBox 22" id="22"/>
          <p:cNvSpPr txBox="true"/>
          <p:nvPr/>
        </p:nvSpPr>
        <p:spPr>
          <a:xfrm rot="0">
            <a:off x="6665976" y="4752975"/>
            <a:ext cx="4828032" cy="802005"/>
          </a:xfrm>
          <a:prstGeom prst="rect">
            <a:avLst/>
          </a:prstGeom>
        </p:spPr>
        <p:txBody>
          <a:bodyPr anchor="t" rtlCol="false" tIns="0" lIns="0" bIns="0" rIns="0">
            <a:spAutoFit/>
          </a:bodyPr>
          <a:lstStyle/>
          <a:p>
            <a:pPr algn="l">
              <a:lnSpc>
                <a:spcPts val="1881"/>
              </a:lnSpc>
            </a:pPr>
            <a:r>
              <a:rPr lang="en-US" sz="1425" i="true">
                <a:solidFill>
                  <a:srgbClr val="1F9D8A"/>
                </a:solidFill>
                <a:latin typeface="Calibri (MS) Italics"/>
                <a:ea typeface="Calibri (MS) Italics"/>
                <a:cs typeface="Calibri (MS) Italics"/>
                <a:sym typeface="Calibri (MS) Italics"/>
              </a:rPr>
              <a:t>→ Fraud and Online Fraud drive over 80% of complaints — resourcing should follow that concentration.</a:t>
            </a:r>
          </a:p>
        </p:txBody>
      </p:sp>
      <p:grpSp>
        <p:nvGrpSpPr>
          <p:cNvPr name="Group 23" id="23"/>
          <p:cNvGrpSpPr/>
          <p:nvPr/>
        </p:nvGrpSpPr>
        <p:grpSpPr>
          <a:xfrm rot="0">
            <a:off x="11960352" y="2221992"/>
            <a:ext cx="5266944" cy="3429000"/>
            <a:chOff x="0" y="0"/>
            <a:chExt cx="7022592" cy="4572000"/>
          </a:xfrm>
        </p:grpSpPr>
        <p:sp>
          <p:nvSpPr>
            <p:cNvPr name="Freeform 24" id="24"/>
            <p:cNvSpPr/>
            <p:nvPr/>
          </p:nvSpPr>
          <p:spPr>
            <a:xfrm flipH="false" flipV="false" rot="0">
              <a:off x="0" y="0"/>
              <a:ext cx="7022592" cy="4572000"/>
            </a:xfrm>
            <a:custGeom>
              <a:avLst/>
              <a:gdLst/>
              <a:ahLst/>
              <a:cxnLst/>
              <a:rect r="r" b="b" t="t" l="l"/>
              <a:pathLst>
                <a:path h="4572000" w="7022592">
                  <a:moveTo>
                    <a:pt x="0" y="146304"/>
                  </a:moveTo>
                  <a:cubicBezTo>
                    <a:pt x="0" y="65532"/>
                    <a:pt x="65532" y="0"/>
                    <a:pt x="146304" y="0"/>
                  </a:cubicBezTo>
                  <a:lnTo>
                    <a:pt x="6876288" y="0"/>
                  </a:lnTo>
                  <a:cubicBezTo>
                    <a:pt x="6957060" y="0"/>
                    <a:pt x="7022592" y="65532"/>
                    <a:pt x="7022592" y="146304"/>
                  </a:cubicBezTo>
                  <a:lnTo>
                    <a:pt x="7022592" y="4425696"/>
                  </a:lnTo>
                  <a:cubicBezTo>
                    <a:pt x="7022592" y="4506468"/>
                    <a:pt x="6957060" y="4572000"/>
                    <a:pt x="6876288" y="4572000"/>
                  </a:cubicBezTo>
                  <a:lnTo>
                    <a:pt x="146304" y="4572000"/>
                  </a:lnTo>
                  <a:cubicBezTo>
                    <a:pt x="65532" y="4572000"/>
                    <a:pt x="0" y="4506468"/>
                    <a:pt x="0" y="4425696"/>
                  </a:cubicBezTo>
                  <a:close/>
                </a:path>
              </a:pathLst>
            </a:custGeom>
            <a:solidFill>
              <a:srgbClr val="F4F5F7"/>
            </a:solidFill>
          </p:spPr>
        </p:sp>
      </p:grpSp>
      <p:grpSp>
        <p:nvGrpSpPr>
          <p:cNvPr name="Group 25" id="25"/>
          <p:cNvGrpSpPr/>
          <p:nvPr/>
        </p:nvGrpSpPr>
        <p:grpSpPr>
          <a:xfrm rot="0">
            <a:off x="12179808" y="2414016"/>
            <a:ext cx="685800" cy="548640"/>
            <a:chOff x="0" y="0"/>
            <a:chExt cx="914400" cy="731520"/>
          </a:xfrm>
        </p:grpSpPr>
        <p:sp>
          <p:nvSpPr>
            <p:cNvPr name="Freeform 26" id="26"/>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27" id="27"/>
            <p:cNvSpPr txBox="true"/>
            <p:nvPr/>
          </p:nvSpPr>
          <p:spPr>
            <a:xfrm>
              <a:off x="0" y="-38100"/>
              <a:ext cx="914400" cy="76962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a:t>
              </a:r>
            </a:p>
          </p:txBody>
        </p:sp>
      </p:grpSp>
      <p:sp>
        <p:nvSpPr>
          <p:cNvPr name="TextBox 28" id="28"/>
          <p:cNvSpPr txBox="true"/>
          <p:nvPr/>
        </p:nvSpPr>
        <p:spPr>
          <a:xfrm rot="0">
            <a:off x="12179808" y="2898267"/>
            <a:ext cx="4828032" cy="695325"/>
          </a:xfrm>
          <a:prstGeom prst="rect">
            <a:avLst/>
          </a:prstGeom>
        </p:spPr>
        <p:txBody>
          <a:bodyPr anchor="t" rtlCol="false" tIns="0" lIns="0" bIns="0" rIns="0">
            <a:spAutoFit/>
          </a:bodyPr>
          <a:lstStyle/>
          <a:p>
            <a:pPr algn="l">
              <a:lnSpc>
                <a:spcPts val="2250"/>
              </a:lnSpc>
            </a:pPr>
            <a:r>
              <a:rPr lang="en-US" b="true" sz="1875" spc="14">
                <a:solidFill>
                  <a:srgbClr val="C23B3B"/>
                </a:solidFill>
                <a:latin typeface="TT Phobos Bold"/>
                <a:ea typeface="TT Phobos Bold"/>
                <a:cs typeface="TT Phobos Bold"/>
                <a:sym typeface="TT Phobos Bold"/>
              </a:rPr>
              <a:t>Legal Categories Needed Clearer Labels</a:t>
            </a:r>
          </a:p>
        </p:txBody>
      </p:sp>
      <p:sp>
        <p:nvSpPr>
          <p:cNvPr name="TextBox 29" id="29"/>
          <p:cNvSpPr txBox="true"/>
          <p:nvPr/>
        </p:nvSpPr>
        <p:spPr>
          <a:xfrm rot="0">
            <a:off x="12179808" y="3536442"/>
            <a:ext cx="4828032" cy="1428750"/>
          </a:xfrm>
          <a:prstGeom prst="rect">
            <a:avLst/>
          </a:prstGeom>
        </p:spPr>
        <p:txBody>
          <a:bodyPr anchor="t" rtlCol="false" tIns="0" lIns="0" bIns="0" rIns="0">
            <a:spAutoFit/>
          </a:bodyPr>
          <a:lstStyle/>
          <a:p>
            <a:pPr algn="l">
              <a:lnSpc>
                <a:spcPts val="2016"/>
              </a:lnSpc>
            </a:pPr>
            <a:r>
              <a:rPr lang="en-US" sz="1500">
                <a:solidFill>
                  <a:srgbClr val="4A4A52"/>
                </a:solidFill>
                <a:latin typeface="Calibri (MS)"/>
                <a:ea typeface="Calibri (MS)"/>
                <a:cs typeface="Calibri (MS)"/>
                <a:sym typeface="Calibri (MS)"/>
              </a:rPr>
              <a:t>Overlapping-sounding labels (Sec.66D vs Section 318) caused real confusion during analysis.</a:t>
            </a:r>
          </a:p>
        </p:txBody>
      </p:sp>
      <p:sp>
        <p:nvSpPr>
          <p:cNvPr name="TextBox 30" id="30"/>
          <p:cNvSpPr txBox="true"/>
          <p:nvPr/>
        </p:nvSpPr>
        <p:spPr>
          <a:xfrm rot="0">
            <a:off x="12179808" y="4752975"/>
            <a:ext cx="4828032" cy="802005"/>
          </a:xfrm>
          <a:prstGeom prst="rect">
            <a:avLst/>
          </a:prstGeom>
        </p:spPr>
        <p:txBody>
          <a:bodyPr anchor="t" rtlCol="false" tIns="0" lIns="0" bIns="0" rIns="0">
            <a:spAutoFit/>
          </a:bodyPr>
          <a:lstStyle/>
          <a:p>
            <a:pPr algn="l">
              <a:lnSpc>
                <a:spcPts val="1881"/>
              </a:lnSpc>
            </a:pPr>
            <a:r>
              <a:rPr lang="en-US" sz="1425" i="true">
                <a:solidFill>
                  <a:srgbClr val="C23B3B"/>
                </a:solidFill>
                <a:latin typeface="Calibri (MS) Italics"/>
                <a:ea typeface="Calibri (MS) Italics"/>
                <a:cs typeface="Calibri (MS) Italics"/>
                <a:sym typeface="Calibri (MS) Italics"/>
              </a:rPr>
              <a:t>→ Relabeling by legal section, not plain English alone, prevents misreading the data.</a:t>
            </a:r>
          </a:p>
        </p:txBody>
      </p:sp>
      <p:grpSp>
        <p:nvGrpSpPr>
          <p:cNvPr name="Group 31" id="31"/>
          <p:cNvGrpSpPr/>
          <p:nvPr/>
        </p:nvGrpSpPr>
        <p:grpSpPr>
          <a:xfrm rot="0">
            <a:off x="932688" y="5897880"/>
            <a:ext cx="5266944" cy="3429000"/>
            <a:chOff x="0" y="0"/>
            <a:chExt cx="7022592" cy="4572000"/>
          </a:xfrm>
        </p:grpSpPr>
        <p:sp>
          <p:nvSpPr>
            <p:cNvPr name="Freeform 32" id="32"/>
            <p:cNvSpPr/>
            <p:nvPr/>
          </p:nvSpPr>
          <p:spPr>
            <a:xfrm flipH="false" flipV="false" rot="0">
              <a:off x="0" y="0"/>
              <a:ext cx="7022592" cy="4572000"/>
            </a:xfrm>
            <a:custGeom>
              <a:avLst/>
              <a:gdLst/>
              <a:ahLst/>
              <a:cxnLst/>
              <a:rect r="r" b="b" t="t" l="l"/>
              <a:pathLst>
                <a:path h="4572000" w="7022592">
                  <a:moveTo>
                    <a:pt x="0" y="146304"/>
                  </a:moveTo>
                  <a:cubicBezTo>
                    <a:pt x="0" y="65532"/>
                    <a:pt x="65532" y="0"/>
                    <a:pt x="146304" y="0"/>
                  </a:cubicBezTo>
                  <a:lnTo>
                    <a:pt x="6876288" y="0"/>
                  </a:lnTo>
                  <a:cubicBezTo>
                    <a:pt x="6957060" y="0"/>
                    <a:pt x="7022592" y="65532"/>
                    <a:pt x="7022592" y="146304"/>
                  </a:cubicBezTo>
                  <a:lnTo>
                    <a:pt x="7022592" y="4425696"/>
                  </a:lnTo>
                  <a:cubicBezTo>
                    <a:pt x="7022592" y="4506468"/>
                    <a:pt x="6957060" y="4572000"/>
                    <a:pt x="6876288" y="4572000"/>
                  </a:cubicBezTo>
                  <a:lnTo>
                    <a:pt x="146304" y="4572000"/>
                  </a:lnTo>
                  <a:cubicBezTo>
                    <a:pt x="65532" y="4572000"/>
                    <a:pt x="0" y="4506468"/>
                    <a:pt x="0" y="4425696"/>
                  </a:cubicBezTo>
                  <a:close/>
                </a:path>
              </a:pathLst>
            </a:custGeom>
            <a:solidFill>
              <a:srgbClr val="F4F5F7"/>
            </a:solidFill>
          </p:spPr>
        </p:sp>
      </p:grpSp>
      <p:grpSp>
        <p:nvGrpSpPr>
          <p:cNvPr name="Group 33" id="33"/>
          <p:cNvGrpSpPr/>
          <p:nvPr/>
        </p:nvGrpSpPr>
        <p:grpSpPr>
          <a:xfrm rot="0">
            <a:off x="1152144" y="6089904"/>
            <a:ext cx="685800" cy="548640"/>
            <a:chOff x="0" y="0"/>
            <a:chExt cx="914400" cy="731520"/>
          </a:xfrm>
        </p:grpSpPr>
        <p:sp>
          <p:nvSpPr>
            <p:cNvPr name="Freeform 34" id="34"/>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35" id="35"/>
            <p:cNvSpPr txBox="true"/>
            <p:nvPr/>
          </p:nvSpPr>
          <p:spPr>
            <a:xfrm>
              <a:off x="0" y="-38100"/>
              <a:ext cx="914400" cy="76962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a:t>
              </a:r>
            </a:p>
          </p:txBody>
        </p:sp>
      </p:grpSp>
      <p:sp>
        <p:nvSpPr>
          <p:cNvPr name="TextBox 36" id="36"/>
          <p:cNvSpPr txBox="true"/>
          <p:nvPr/>
        </p:nvSpPr>
        <p:spPr>
          <a:xfrm rot="0">
            <a:off x="1152144" y="6574155"/>
            <a:ext cx="4828032" cy="695325"/>
          </a:xfrm>
          <a:prstGeom prst="rect">
            <a:avLst/>
          </a:prstGeom>
        </p:spPr>
        <p:txBody>
          <a:bodyPr anchor="t" rtlCol="false" tIns="0" lIns="0" bIns="0" rIns="0">
            <a:spAutoFit/>
          </a:bodyPr>
          <a:lstStyle/>
          <a:p>
            <a:pPr algn="l">
              <a:lnSpc>
                <a:spcPts val="2250"/>
              </a:lnSpc>
            </a:pPr>
            <a:r>
              <a:rPr lang="en-US" b="true" sz="1875" spc="14">
                <a:solidFill>
                  <a:srgbClr val="E8A33D"/>
                </a:solidFill>
                <a:latin typeface="TT Phobos Bold"/>
                <a:ea typeface="TT Phobos Bold"/>
                <a:cs typeface="TT Phobos Bold"/>
                <a:sym typeface="TT Phobos Bold"/>
              </a:rPr>
              <a:t>The Dashboard is Fully Interactive</a:t>
            </a:r>
          </a:p>
        </p:txBody>
      </p:sp>
      <p:sp>
        <p:nvSpPr>
          <p:cNvPr name="TextBox 37" id="37"/>
          <p:cNvSpPr txBox="true"/>
          <p:nvPr/>
        </p:nvSpPr>
        <p:spPr>
          <a:xfrm rot="0">
            <a:off x="1152144" y="7212330"/>
            <a:ext cx="4828032" cy="1428750"/>
          </a:xfrm>
          <a:prstGeom prst="rect">
            <a:avLst/>
          </a:prstGeom>
        </p:spPr>
        <p:txBody>
          <a:bodyPr anchor="t" rtlCol="false" tIns="0" lIns="0" bIns="0" rIns="0">
            <a:spAutoFit/>
          </a:bodyPr>
          <a:lstStyle/>
          <a:p>
            <a:pPr algn="l">
              <a:lnSpc>
                <a:spcPts val="2016"/>
              </a:lnSpc>
            </a:pPr>
            <a:r>
              <a:rPr lang="en-US" sz="1500">
                <a:solidFill>
                  <a:srgbClr val="4A4A52"/>
                </a:solidFill>
                <a:latin typeface="Calibri (MS)"/>
                <a:ea typeface="Calibri (MS)"/>
                <a:cs typeface="Calibri (MS)"/>
                <a:sym typeface="Calibri (MS)"/>
              </a:rPr>
              <a:t>Year and State filters apply dashboard-wide; a Lollipop and Waterfall chart add depth beyond defaults.</a:t>
            </a:r>
          </a:p>
        </p:txBody>
      </p:sp>
      <p:sp>
        <p:nvSpPr>
          <p:cNvPr name="TextBox 38" id="38"/>
          <p:cNvSpPr txBox="true"/>
          <p:nvPr/>
        </p:nvSpPr>
        <p:spPr>
          <a:xfrm rot="0">
            <a:off x="1152144" y="8428863"/>
            <a:ext cx="4828032" cy="802005"/>
          </a:xfrm>
          <a:prstGeom prst="rect">
            <a:avLst/>
          </a:prstGeom>
        </p:spPr>
        <p:txBody>
          <a:bodyPr anchor="t" rtlCol="false" tIns="0" lIns="0" bIns="0" rIns="0">
            <a:spAutoFit/>
          </a:bodyPr>
          <a:lstStyle/>
          <a:p>
            <a:pPr algn="l">
              <a:lnSpc>
                <a:spcPts val="1881"/>
              </a:lnSpc>
            </a:pPr>
            <a:r>
              <a:rPr lang="en-US" sz="1425" i="true">
                <a:solidFill>
                  <a:srgbClr val="E8A33D"/>
                </a:solidFill>
                <a:latin typeface="Calibri (MS) Italics"/>
                <a:ea typeface="Calibri (MS) Italics"/>
                <a:cs typeface="Calibri (MS) Italics"/>
                <a:sym typeface="Calibri (MS) Italics"/>
              </a:rPr>
              <a:t>→ Built for exploration, not a static report — viewers can click through the story themselves.</a:t>
            </a:r>
          </a:p>
        </p:txBody>
      </p:sp>
      <p:grpSp>
        <p:nvGrpSpPr>
          <p:cNvPr name="Group 39" id="39"/>
          <p:cNvGrpSpPr/>
          <p:nvPr/>
        </p:nvGrpSpPr>
        <p:grpSpPr>
          <a:xfrm rot="0">
            <a:off x="6446520" y="5897880"/>
            <a:ext cx="10780776" cy="3429000"/>
            <a:chOff x="0" y="0"/>
            <a:chExt cx="14374368" cy="4572000"/>
          </a:xfrm>
        </p:grpSpPr>
        <p:sp>
          <p:nvSpPr>
            <p:cNvPr name="Freeform 40" id="40"/>
            <p:cNvSpPr/>
            <p:nvPr/>
          </p:nvSpPr>
          <p:spPr>
            <a:xfrm flipH="false" flipV="false" rot="0">
              <a:off x="0" y="0"/>
              <a:ext cx="14374369" cy="4572000"/>
            </a:xfrm>
            <a:custGeom>
              <a:avLst/>
              <a:gdLst/>
              <a:ahLst/>
              <a:cxnLst/>
              <a:rect r="r" b="b" t="t" l="l"/>
              <a:pathLst>
                <a:path h="4572000" w="14374369">
                  <a:moveTo>
                    <a:pt x="0" y="146304"/>
                  </a:moveTo>
                  <a:cubicBezTo>
                    <a:pt x="0" y="65532"/>
                    <a:pt x="65532" y="0"/>
                    <a:pt x="146304" y="0"/>
                  </a:cubicBezTo>
                  <a:lnTo>
                    <a:pt x="14228065" y="0"/>
                  </a:lnTo>
                  <a:cubicBezTo>
                    <a:pt x="14308837" y="0"/>
                    <a:pt x="14374369" y="65532"/>
                    <a:pt x="14374369" y="146304"/>
                  </a:cubicBezTo>
                  <a:lnTo>
                    <a:pt x="14374369" y="4425696"/>
                  </a:lnTo>
                  <a:cubicBezTo>
                    <a:pt x="14374369" y="4506468"/>
                    <a:pt x="14308837" y="4572000"/>
                    <a:pt x="14228065" y="4572000"/>
                  </a:cubicBezTo>
                  <a:lnTo>
                    <a:pt x="146304" y="4572000"/>
                  </a:lnTo>
                  <a:cubicBezTo>
                    <a:pt x="65532" y="4572000"/>
                    <a:pt x="0" y="4506468"/>
                    <a:pt x="0" y="4425696"/>
                  </a:cubicBezTo>
                  <a:close/>
                </a:path>
              </a:pathLst>
            </a:custGeom>
            <a:solidFill>
              <a:srgbClr val="F4F5F7"/>
            </a:solidFill>
          </p:spPr>
        </p:sp>
      </p:grpSp>
      <p:grpSp>
        <p:nvGrpSpPr>
          <p:cNvPr name="Group 41" id="41"/>
          <p:cNvGrpSpPr/>
          <p:nvPr/>
        </p:nvGrpSpPr>
        <p:grpSpPr>
          <a:xfrm rot="0">
            <a:off x="6665976" y="6089904"/>
            <a:ext cx="685800" cy="548640"/>
            <a:chOff x="0" y="0"/>
            <a:chExt cx="914400" cy="731520"/>
          </a:xfrm>
        </p:grpSpPr>
        <p:sp>
          <p:nvSpPr>
            <p:cNvPr name="Freeform 42" id="42"/>
            <p:cNvSpPr/>
            <p:nvPr/>
          </p:nvSpPr>
          <p:spPr>
            <a:xfrm flipH="false" flipV="false" rot="0">
              <a:off x="0" y="0"/>
              <a:ext cx="914400" cy="731520"/>
            </a:xfrm>
            <a:custGeom>
              <a:avLst/>
              <a:gdLst/>
              <a:ahLst/>
              <a:cxnLst/>
              <a:rect r="r" b="b" t="t" l="l"/>
              <a:pathLst>
                <a:path h="731520" w="914400">
                  <a:moveTo>
                    <a:pt x="0" y="0"/>
                  </a:moveTo>
                  <a:lnTo>
                    <a:pt x="914400" y="0"/>
                  </a:lnTo>
                  <a:lnTo>
                    <a:pt x="914400" y="731520"/>
                  </a:lnTo>
                  <a:lnTo>
                    <a:pt x="0" y="731520"/>
                  </a:lnTo>
                  <a:close/>
                </a:path>
              </a:pathLst>
            </a:custGeom>
            <a:blipFill>
              <a:blip r:embed="rId3">
                <a:alphaModFix amt="0"/>
              </a:blip>
              <a:stretch>
                <a:fillRect l="-52642" t="0" r="-52642" b="0"/>
              </a:stretch>
            </a:blipFill>
          </p:spPr>
        </p:sp>
        <p:sp>
          <p:nvSpPr>
            <p:cNvPr name="TextBox 43" id="43"/>
            <p:cNvSpPr txBox="true"/>
            <p:nvPr/>
          </p:nvSpPr>
          <p:spPr>
            <a:xfrm>
              <a:off x="0" y="-38100"/>
              <a:ext cx="914400" cy="76962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a:t>
              </a:r>
            </a:p>
          </p:txBody>
        </p:sp>
      </p:grpSp>
      <p:sp>
        <p:nvSpPr>
          <p:cNvPr name="TextBox 44" id="44"/>
          <p:cNvSpPr txBox="true"/>
          <p:nvPr/>
        </p:nvSpPr>
        <p:spPr>
          <a:xfrm rot="0">
            <a:off x="6665976" y="6574155"/>
            <a:ext cx="10341864" cy="695325"/>
          </a:xfrm>
          <a:prstGeom prst="rect">
            <a:avLst/>
          </a:prstGeom>
        </p:spPr>
        <p:txBody>
          <a:bodyPr anchor="t" rtlCol="false" tIns="0" lIns="0" bIns="0" rIns="0">
            <a:spAutoFit/>
          </a:bodyPr>
          <a:lstStyle/>
          <a:p>
            <a:pPr algn="l">
              <a:lnSpc>
                <a:spcPts val="2250"/>
              </a:lnSpc>
            </a:pPr>
            <a:r>
              <a:rPr lang="en-US" b="true" sz="1875" spc="14">
                <a:solidFill>
                  <a:srgbClr val="1F9D8A"/>
                </a:solidFill>
                <a:latin typeface="TT Phobos Bold"/>
                <a:ea typeface="TT Phobos Bold"/>
                <a:cs typeface="TT Phobos Bold"/>
                <a:sym typeface="TT Phobos Bold"/>
              </a:rPr>
              <a:t>Known Data Gaps, Documented Honestly</a:t>
            </a:r>
          </a:p>
        </p:txBody>
      </p:sp>
      <p:sp>
        <p:nvSpPr>
          <p:cNvPr name="TextBox 45" id="45"/>
          <p:cNvSpPr txBox="true"/>
          <p:nvPr/>
        </p:nvSpPr>
        <p:spPr>
          <a:xfrm rot="0">
            <a:off x="6665976" y="7212330"/>
            <a:ext cx="10341864" cy="1428750"/>
          </a:xfrm>
          <a:prstGeom prst="rect">
            <a:avLst/>
          </a:prstGeom>
        </p:spPr>
        <p:txBody>
          <a:bodyPr anchor="t" rtlCol="false" tIns="0" lIns="0" bIns="0" rIns="0">
            <a:spAutoFit/>
          </a:bodyPr>
          <a:lstStyle/>
          <a:p>
            <a:pPr algn="l">
              <a:lnSpc>
                <a:spcPts val="2016"/>
              </a:lnSpc>
            </a:pPr>
            <a:r>
              <a:rPr lang="en-US" sz="1500">
                <a:solidFill>
                  <a:srgbClr val="4A4A52"/>
                </a:solidFill>
                <a:latin typeface="Calibri (MS)"/>
                <a:ea typeface="Calibri (MS)"/>
                <a:cs typeface="Calibri (MS)"/>
                <a:sym typeface="Calibri (MS)"/>
              </a:rPr>
              <a:t>The Filled Map shows blanks for some years because ipc_sll_total isn't populated in every year of the source file.</a:t>
            </a:r>
          </a:p>
        </p:txBody>
      </p:sp>
      <p:sp>
        <p:nvSpPr>
          <p:cNvPr name="TextBox 46" id="46"/>
          <p:cNvSpPr txBox="true"/>
          <p:nvPr/>
        </p:nvSpPr>
        <p:spPr>
          <a:xfrm rot="0">
            <a:off x="6665976" y="8428863"/>
            <a:ext cx="10341864" cy="802005"/>
          </a:xfrm>
          <a:prstGeom prst="rect">
            <a:avLst/>
          </a:prstGeom>
        </p:spPr>
        <p:txBody>
          <a:bodyPr anchor="t" rtlCol="false" tIns="0" lIns="0" bIns="0" rIns="0">
            <a:spAutoFit/>
          </a:bodyPr>
          <a:lstStyle/>
          <a:p>
            <a:pPr algn="l">
              <a:lnSpc>
                <a:spcPts val="1881"/>
              </a:lnSpc>
            </a:pPr>
            <a:r>
              <a:rPr lang="en-US" sz="1425" i="true">
                <a:solidFill>
                  <a:srgbClr val="1F9D8A"/>
                </a:solidFill>
                <a:latin typeface="Calibri (MS) Italics"/>
                <a:ea typeface="Calibri (MS) Italics"/>
                <a:cs typeface="Calibri (MS) Italics"/>
                <a:sym typeface="Calibri (MS) Italics"/>
              </a:rPr>
              <a:t>→ Flagged as a limitation, not hidden — an honest dashboard beats a falsely complete one.</a:t>
            </a:r>
          </a:p>
        </p:txBody>
      </p:sp>
      <p:sp>
        <p:nvSpPr>
          <p:cNvPr name="TextBox 47" id="47"/>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A3A3AC"/>
                </a:solidFill>
                <a:latin typeface="Calibri (MS)"/>
                <a:ea typeface="Calibri (MS)"/>
                <a:cs typeface="Calibri (MS)"/>
                <a:sym typeface="Calibri (M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3428" cy="10287000"/>
            <a:chOff x="0" y="0"/>
            <a:chExt cx="24377904" cy="13716000"/>
          </a:xfrm>
        </p:grpSpPr>
        <p:sp>
          <p:nvSpPr>
            <p:cNvPr name="Freeform 3" id="3"/>
            <p:cNvSpPr/>
            <p:nvPr/>
          </p:nvSpPr>
          <p:spPr>
            <a:xfrm flipH="false" flipV="false" rot="0">
              <a:off x="0" y="0"/>
              <a:ext cx="24377904" cy="13716000"/>
            </a:xfrm>
            <a:custGeom>
              <a:avLst/>
              <a:gdLst/>
              <a:ahLst/>
              <a:cxnLst/>
              <a:rect r="r" b="b" t="t" l="l"/>
              <a:pathLst>
                <a:path h="13716000" w="24377904">
                  <a:moveTo>
                    <a:pt x="0" y="0"/>
                  </a:moveTo>
                  <a:lnTo>
                    <a:pt x="24377904" y="0"/>
                  </a:lnTo>
                  <a:lnTo>
                    <a:pt x="24377904" y="13716000"/>
                  </a:lnTo>
                  <a:lnTo>
                    <a:pt x="0" y="13716000"/>
                  </a:lnTo>
                  <a:close/>
                </a:path>
              </a:pathLst>
            </a:custGeom>
            <a:solidFill>
              <a:srgbClr val="0B0F19"/>
            </a:solidFill>
          </p:spPr>
        </p:sp>
      </p:grpSp>
      <p:sp>
        <p:nvSpPr>
          <p:cNvPr name="TextBox 4" id="4"/>
          <p:cNvSpPr txBox="true"/>
          <p:nvPr/>
        </p:nvSpPr>
        <p:spPr>
          <a:xfrm rot="0">
            <a:off x="1325880" y="3533775"/>
            <a:ext cx="15590520" cy="1701165"/>
          </a:xfrm>
          <a:prstGeom prst="rect">
            <a:avLst/>
          </a:prstGeom>
        </p:spPr>
        <p:txBody>
          <a:bodyPr anchor="t" rtlCol="false" tIns="0" lIns="0" bIns="0" rIns="0">
            <a:spAutoFit/>
          </a:bodyPr>
          <a:lstStyle/>
          <a:p>
            <a:pPr algn="l">
              <a:lnSpc>
                <a:spcPts val="7200"/>
              </a:lnSpc>
            </a:pPr>
            <a:r>
              <a:rPr lang="en-US" b="true" sz="6000" spc="47">
                <a:solidFill>
                  <a:srgbClr val="FFFFFF"/>
                </a:solidFill>
                <a:latin typeface="TT Phobos Bold"/>
                <a:ea typeface="TT Phobos Bold"/>
                <a:cs typeface="TT Phobos Bold"/>
                <a:sym typeface="TT Phobos Bold"/>
              </a:rPr>
              <a:t>Thank You</a:t>
            </a:r>
          </a:p>
        </p:txBody>
      </p:sp>
      <p:sp>
        <p:nvSpPr>
          <p:cNvPr name="TextBox 5" id="5"/>
          <p:cNvSpPr txBox="true"/>
          <p:nvPr/>
        </p:nvSpPr>
        <p:spPr>
          <a:xfrm rot="0">
            <a:off x="1394460" y="5132070"/>
            <a:ext cx="13258800" cy="1200150"/>
          </a:xfrm>
          <a:prstGeom prst="rect">
            <a:avLst/>
          </a:prstGeom>
        </p:spPr>
        <p:txBody>
          <a:bodyPr anchor="t" rtlCol="false" tIns="0" lIns="0" bIns="0" rIns="0">
            <a:spAutoFit/>
          </a:bodyPr>
          <a:lstStyle/>
          <a:p>
            <a:pPr algn="l">
              <a:lnSpc>
                <a:spcPts val="2700"/>
              </a:lnSpc>
            </a:pPr>
            <a:r>
              <a:rPr lang="en-US" sz="2250">
                <a:solidFill>
                  <a:srgbClr val="C9C9D4"/>
                </a:solidFill>
                <a:latin typeface="Calibri (MS)"/>
                <a:ea typeface="Calibri (MS)"/>
                <a:cs typeface="Calibri (MS)"/>
                <a:sym typeface="Calibri (MS)"/>
              </a:rPr>
              <a:t>Built with Tableau  ·  Calculated Fields  ·  Parameters</a:t>
            </a:r>
          </a:p>
        </p:txBody>
      </p:sp>
      <p:grpSp>
        <p:nvGrpSpPr>
          <p:cNvPr name="Group 6" id="6"/>
          <p:cNvGrpSpPr/>
          <p:nvPr/>
        </p:nvGrpSpPr>
        <p:grpSpPr>
          <a:xfrm rot="0">
            <a:off x="1303020" y="7063740"/>
            <a:ext cx="3634740" cy="1371600"/>
            <a:chOff x="0" y="0"/>
            <a:chExt cx="4846320" cy="1828800"/>
          </a:xfrm>
        </p:grpSpPr>
        <p:sp>
          <p:nvSpPr>
            <p:cNvPr name="Freeform 7" id="7"/>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8" id="8"/>
          <p:cNvGrpSpPr/>
          <p:nvPr/>
        </p:nvGrpSpPr>
        <p:grpSpPr>
          <a:xfrm rot="0">
            <a:off x="1467612" y="7228332"/>
            <a:ext cx="3305556" cy="754380"/>
            <a:chOff x="0" y="0"/>
            <a:chExt cx="4407408" cy="1005840"/>
          </a:xfrm>
        </p:grpSpPr>
        <p:sp>
          <p:nvSpPr>
            <p:cNvPr name="Freeform 9" id="9"/>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10" id="10"/>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3</a:t>
              </a:r>
            </a:p>
          </p:txBody>
        </p:sp>
      </p:grpSp>
      <p:grpSp>
        <p:nvGrpSpPr>
          <p:cNvPr name="Group 11" id="11"/>
          <p:cNvGrpSpPr/>
          <p:nvPr/>
        </p:nvGrpSpPr>
        <p:grpSpPr>
          <a:xfrm rot="0">
            <a:off x="1467612" y="7886700"/>
            <a:ext cx="3305556" cy="480060"/>
            <a:chOff x="0" y="0"/>
            <a:chExt cx="4407408" cy="640080"/>
          </a:xfrm>
        </p:grpSpPr>
        <p:sp>
          <p:nvSpPr>
            <p:cNvPr name="Freeform 12" id="12"/>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13" id="13"/>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Data Sources</a:t>
              </a:r>
            </a:p>
          </p:txBody>
        </p:sp>
      </p:grpSp>
      <p:grpSp>
        <p:nvGrpSpPr>
          <p:cNvPr name="Group 14" id="14"/>
          <p:cNvGrpSpPr/>
          <p:nvPr/>
        </p:nvGrpSpPr>
        <p:grpSpPr>
          <a:xfrm rot="0">
            <a:off x="5212080" y="7063740"/>
            <a:ext cx="3634740" cy="1371600"/>
            <a:chOff x="0" y="0"/>
            <a:chExt cx="4846320" cy="1828800"/>
          </a:xfrm>
        </p:grpSpPr>
        <p:sp>
          <p:nvSpPr>
            <p:cNvPr name="Freeform 15" id="15"/>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16" id="16"/>
          <p:cNvGrpSpPr/>
          <p:nvPr/>
        </p:nvGrpSpPr>
        <p:grpSpPr>
          <a:xfrm rot="0">
            <a:off x="5376672" y="7228332"/>
            <a:ext cx="3305556" cy="754380"/>
            <a:chOff x="0" y="0"/>
            <a:chExt cx="4407408" cy="1005840"/>
          </a:xfrm>
        </p:grpSpPr>
        <p:sp>
          <p:nvSpPr>
            <p:cNvPr name="Freeform 17" id="17"/>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18" id="18"/>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10</a:t>
              </a:r>
            </a:p>
          </p:txBody>
        </p:sp>
      </p:grpSp>
      <p:grpSp>
        <p:nvGrpSpPr>
          <p:cNvPr name="Group 19" id="19"/>
          <p:cNvGrpSpPr/>
          <p:nvPr/>
        </p:nvGrpSpPr>
        <p:grpSpPr>
          <a:xfrm rot="0">
            <a:off x="5376672" y="7886700"/>
            <a:ext cx="3305556" cy="480060"/>
            <a:chOff x="0" y="0"/>
            <a:chExt cx="4407408" cy="640080"/>
          </a:xfrm>
        </p:grpSpPr>
        <p:sp>
          <p:nvSpPr>
            <p:cNvPr name="Freeform 20" id="20"/>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21" id="21"/>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Years Analysed</a:t>
              </a:r>
            </a:p>
          </p:txBody>
        </p:sp>
      </p:grpSp>
      <p:grpSp>
        <p:nvGrpSpPr>
          <p:cNvPr name="Group 22" id="22"/>
          <p:cNvGrpSpPr/>
          <p:nvPr/>
        </p:nvGrpSpPr>
        <p:grpSpPr>
          <a:xfrm rot="0">
            <a:off x="9121140" y="7063740"/>
            <a:ext cx="3634740" cy="1371600"/>
            <a:chOff x="0" y="0"/>
            <a:chExt cx="4846320" cy="1828800"/>
          </a:xfrm>
        </p:grpSpPr>
        <p:sp>
          <p:nvSpPr>
            <p:cNvPr name="Freeform 23" id="23"/>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24" id="24"/>
          <p:cNvGrpSpPr/>
          <p:nvPr/>
        </p:nvGrpSpPr>
        <p:grpSpPr>
          <a:xfrm rot="0">
            <a:off x="9285732" y="7228332"/>
            <a:ext cx="3305556" cy="754380"/>
            <a:chOff x="0" y="0"/>
            <a:chExt cx="4407408" cy="1005840"/>
          </a:xfrm>
        </p:grpSpPr>
        <p:sp>
          <p:nvSpPr>
            <p:cNvPr name="Freeform 25" id="25"/>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26" id="26"/>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6</a:t>
              </a:r>
            </a:p>
          </p:txBody>
        </p:sp>
      </p:grpSp>
      <p:grpSp>
        <p:nvGrpSpPr>
          <p:cNvPr name="Group 27" id="27"/>
          <p:cNvGrpSpPr/>
          <p:nvPr/>
        </p:nvGrpSpPr>
        <p:grpSpPr>
          <a:xfrm rot="0">
            <a:off x="9285732" y="7886700"/>
            <a:ext cx="3305556" cy="480060"/>
            <a:chOff x="0" y="0"/>
            <a:chExt cx="4407408" cy="640080"/>
          </a:xfrm>
        </p:grpSpPr>
        <p:sp>
          <p:nvSpPr>
            <p:cNvPr name="Freeform 28" id="28"/>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29" id="29"/>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Calculated Fields</a:t>
              </a:r>
            </a:p>
          </p:txBody>
        </p:sp>
      </p:grpSp>
      <p:grpSp>
        <p:nvGrpSpPr>
          <p:cNvPr name="Group 30" id="30"/>
          <p:cNvGrpSpPr/>
          <p:nvPr/>
        </p:nvGrpSpPr>
        <p:grpSpPr>
          <a:xfrm rot="0">
            <a:off x="13030200" y="7063740"/>
            <a:ext cx="3634740" cy="1371600"/>
            <a:chOff x="0" y="0"/>
            <a:chExt cx="4846320" cy="1828800"/>
          </a:xfrm>
        </p:grpSpPr>
        <p:sp>
          <p:nvSpPr>
            <p:cNvPr name="Freeform 31" id="31"/>
            <p:cNvSpPr/>
            <p:nvPr/>
          </p:nvSpPr>
          <p:spPr>
            <a:xfrm flipH="false" flipV="false" rot="0">
              <a:off x="0" y="0"/>
              <a:ext cx="4846320" cy="1828800"/>
            </a:xfrm>
            <a:custGeom>
              <a:avLst/>
              <a:gdLst/>
              <a:ahLst/>
              <a:cxnLst/>
              <a:rect r="r" b="b" t="t" l="l"/>
              <a:pathLst>
                <a:path h="1828800" w="4846320">
                  <a:moveTo>
                    <a:pt x="0" y="146304"/>
                  </a:moveTo>
                  <a:cubicBezTo>
                    <a:pt x="0" y="65532"/>
                    <a:pt x="65532" y="0"/>
                    <a:pt x="146304" y="0"/>
                  </a:cubicBezTo>
                  <a:lnTo>
                    <a:pt x="4700016" y="0"/>
                  </a:lnTo>
                  <a:cubicBezTo>
                    <a:pt x="4780788" y="0"/>
                    <a:pt x="4846320" y="65532"/>
                    <a:pt x="4846320" y="146304"/>
                  </a:cubicBezTo>
                  <a:lnTo>
                    <a:pt x="4846320" y="1682496"/>
                  </a:lnTo>
                  <a:cubicBezTo>
                    <a:pt x="4846320" y="1763268"/>
                    <a:pt x="4780788" y="1828800"/>
                    <a:pt x="4700016" y="1828800"/>
                  </a:cubicBezTo>
                  <a:lnTo>
                    <a:pt x="146304" y="1828800"/>
                  </a:lnTo>
                  <a:cubicBezTo>
                    <a:pt x="65532" y="1828800"/>
                    <a:pt x="0" y="1763268"/>
                    <a:pt x="0" y="1682496"/>
                  </a:cubicBezTo>
                  <a:close/>
                </a:path>
              </a:pathLst>
            </a:custGeom>
            <a:solidFill>
              <a:srgbClr val="161B2C"/>
            </a:solidFill>
          </p:spPr>
        </p:sp>
      </p:grpSp>
      <p:grpSp>
        <p:nvGrpSpPr>
          <p:cNvPr name="Group 32" id="32"/>
          <p:cNvGrpSpPr/>
          <p:nvPr/>
        </p:nvGrpSpPr>
        <p:grpSpPr>
          <a:xfrm rot="0">
            <a:off x="13194792" y="7228332"/>
            <a:ext cx="3305556" cy="754380"/>
            <a:chOff x="0" y="0"/>
            <a:chExt cx="4407408" cy="1005840"/>
          </a:xfrm>
        </p:grpSpPr>
        <p:sp>
          <p:nvSpPr>
            <p:cNvPr name="Freeform 33" id="33"/>
            <p:cNvSpPr/>
            <p:nvPr/>
          </p:nvSpPr>
          <p:spPr>
            <a:xfrm flipH="false" flipV="false" rot="0">
              <a:off x="0" y="0"/>
              <a:ext cx="4407408" cy="1005840"/>
            </a:xfrm>
            <a:custGeom>
              <a:avLst/>
              <a:gdLst/>
              <a:ahLst/>
              <a:cxnLst/>
              <a:rect r="r" b="b" t="t" l="l"/>
              <a:pathLst>
                <a:path h="1005840" w="4407408">
                  <a:moveTo>
                    <a:pt x="0" y="0"/>
                  </a:moveTo>
                  <a:lnTo>
                    <a:pt x="4407408" y="0"/>
                  </a:lnTo>
                  <a:lnTo>
                    <a:pt x="4407408" y="1005840"/>
                  </a:lnTo>
                  <a:lnTo>
                    <a:pt x="0" y="1005840"/>
                  </a:lnTo>
                  <a:close/>
                </a:path>
              </a:pathLst>
            </a:custGeom>
            <a:blipFill>
              <a:blip r:embed="rId3">
                <a:alphaModFix amt="0"/>
              </a:blip>
              <a:stretch>
                <a:fillRect l="0" t="-35379" r="0" b="-35379"/>
              </a:stretch>
            </a:blipFill>
          </p:spPr>
        </p:sp>
        <p:sp>
          <p:nvSpPr>
            <p:cNvPr name="TextBox 34" id="34"/>
            <p:cNvSpPr txBox="true"/>
            <p:nvPr/>
          </p:nvSpPr>
          <p:spPr>
            <a:xfrm>
              <a:off x="0" y="0"/>
              <a:ext cx="4407408" cy="1005840"/>
            </a:xfrm>
            <a:prstGeom prst="rect">
              <a:avLst/>
            </a:prstGeom>
          </p:spPr>
          <p:txBody>
            <a:bodyPr anchor="ctr" rtlCol="false" tIns="0" lIns="0" bIns="0" rIns="0"/>
            <a:lstStyle/>
            <a:p>
              <a:pPr algn="l">
                <a:lnSpc>
                  <a:spcPts val="3600"/>
                </a:lnSpc>
              </a:pPr>
              <a:r>
                <a:rPr lang="en-US" b="true" sz="3000" spc="23">
                  <a:solidFill>
                    <a:srgbClr val="FFFFFF"/>
                  </a:solidFill>
                  <a:latin typeface="TT Phobos Bold"/>
                  <a:ea typeface="TT Phobos Bold"/>
                  <a:cs typeface="TT Phobos Bold"/>
                  <a:sym typeface="TT Phobos Bold"/>
                </a:rPr>
                <a:t>6.24M</a:t>
              </a:r>
            </a:p>
          </p:txBody>
        </p:sp>
      </p:grpSp>
      <p:grpSp>
        <p:nvGrpSpPr>
          <p:cNvPr name="Group 35" id="35"/>
          <p:cNvGrpSpPr/>
          <p:nvPr/>
        </p:nvGrpSpPr>
        <p:grpSpPr>
          <a:xfrm rot="0">
            <a:off x="13194792" y="7886700"/>
            <a:ext cx="3305556" cy="480060"/>
            <a:chOff x="0" y="0"/>
            <a:chExt cx="4407408" cy="640080"/>
          </a:xfrm>
        </p:grpSpPr>
        <p:sp>
          <p:nvSpPr>
            <p:cNvPr name="Freeform 36" id="36"/>
            <p:cNvSpPr/>
            <p:nvPr/>
          </p:nvSpPr>
          <p:spPr>
            <a:xfrm flipH="false" flipV="false" rot="0">
              <a:off x="0" y="0"/>
              <a:ext cx="4407408" cy="640080"/>
            </a:xfrm>
            <a:custGeom>
              <a:avLst/>
              <a:gdLst/>
              <a:ahLst/>
              <a:cxnLst/>
              <a:rect r="r" b="b" t="t" l="l"/>
              <a:pathLst>
                <a:path h="640080" w="4407408">
                  <a:moveTo>
                    <a:pt x="0" y="0"/>
                  </a:moveTo>
                  <a:lnTo>
                    <a:pt x="4407408" y="0"/>
                  </a:lnTo>
                  <a:lnTo>
                    <a:pt x="4407408" y="640080"/>
                  </a:lnTo>
                  <a:lnTo>
                    <a:pt x="0" y="640080"/>
                  </a:lnTo>
                  <a:close/>
                </a:path>
              </a:pathLst>
            </a:custGeom>
            <a:blipFill>
              <a:blip r:embed="rId3">
                <a:alphaModFix amt="0"/>
              </a:blip>
              <a:stretch>
                <a:fillRect l="0" t="-84168" r="0" b="-84168"/>
              </a:stretch>
            </a:blipFill>
          </p:spPr>
        </p:sp>
        <p:sp>
          <p:nvSpPr>
            <p:cNvPr name="TextBox 37" id="37"/>
            <p:cNvSpPr txBox="true"/>
            <p:nvPr/>
          </p:nvSpPr>
          <p:spPr>
            <a:xfrm>
              <a:off x="0" y="-38100"/>
              <a:ext cx="4407408" cy="678180"/>
            </a:xfrm>
            <a:prstGeom prst="rect">
              <a:avLst/>
            </a:prstGeom>
          </p:spPr>
          <p:txBody>
            <a:bodyPr anchor="ctr" rtlCol="false" tIns="0" lIns="0" bIns="0" rIns="0"/>
            <a:lstStyle/>
            <a:p>
              <a:pPr algn="l">
                <a:lnSpc>
                  <a:spcPts val="1800"/>
                </a:lnSpc>
              </a:pPr>
              <a:r>
                <a:rPr lang="en-US" sz="1500">
                  <a:solidFill>
                    <a:srgbClr val="A6A6B3"/>
                  </a:solidFill>
                  <a:latin typeface="Calibri (MS)"/>
                  <a:ea typeface="Calibri (MS)"/>
                  <a:cs typeface="Calibri (MS)"/>
                  <a:sym typeface="Calibri (MS)"/>
                </a:rPr>
                <a:t>Cases Tracked</a:t>
              </a:r>
            </a:p>
          </p:txBody>
        </p:sp>
      </p:grpSp>
      <p:grpSp>
        <p:nvGrpSpPr>
          <p:cNvPr name="Group 38" id="38"/>
          <p:cNvGrpSpPr/>
          <p:nvPr/>
        </p:nvGrpSpPr>
        <p:grpSpPr>
          <a:xfrm rot="0">
            <a:off x="1303020" y="8983980"/>
            <a:ext cx="13716000" cy="480060"/>
            <a:chOff x="0" y="0"/>
            <a:chExt cx="18288000" cy="640080"/>
          </a:xfrm>
        </p:grpSpPr>
        <p:sp>
          <p:nvSpPr>
            <p:cNvPr name="Freeform 39" id="39"/>
            <p:cNvSpPr/>
            <p:nvPr/>
          </p:nvSpPr>
          <p:spPr>
            <a:xfrm flipH="false" flipV="false" rot="0">
              <a:off x="0" y="0"/>
              <a:ext cx="18288000" cy="640080"/>
            </a:xfrm>
            <a:custGeom>
              <a:avLst/>
              <a:gdLst/>
              <a:ahLst/>
              <a:cxnLst/>
              <a:rect r="r" b="b" t="t" l="l"/>
              <a:pathLst>
                <a:path h="640080" w="18288000">
                  <a:moveTo>
                    <a:pt x="0" y="0"/>
                  </a:moveTo>
                  <a:lnTo>
                    <a:pt x="18288000" y="0"/>
                  </a:lnTo>
                  <a:lnTo>
                    <a:pt x="18288000" y="640080"/>
                  </a:lnTo>
                  <a:lnTo>
                    <a:pt x="0" y="640080"/>
                  </a:lnTo>
                  <a:close/>
                </a:path>
              </a:pathLst>
            </a:custGeom>
            <a:blipFill>
              <a:blip r:embed="rId3">
                <a:alphaModFix amt="0"/>
              </a:blip>
              <a:stretch>
                <a:fillRect l="0" t="-506715" r="0" b="-506715"/>
              </a:stretch>
            </a:blipFill>
          </p:spPr>
        </p:sp>
        <p:sp>
          <p:nvSpPr>
            <p:cNvPr name="TextBox 40" id="40"/>
            <p:cNvSpPr txBox="true"/>
            <p:nvPr/>
          </p:nvSpPr>
          <p:spPr>
            <a:xfrm>
              <a:off x="0" y="-28575"/>
              <a:ext cx="18288000" cy="668655"/>
            </a:xfrm>
            <a:prstGeom prst="rect">
              <a:avLst/>
            </a:prstGeom>
          </p:spPr>
          <p:txBody>
            <a:bodyPr anchor="ctr" rtlCol="false" tIns="0" lIns="0" bIns="0" rIns="0"/>
            <a:lstStyle/>
            <a:p>
              <a:pPr algn="l">
                <a:lnSpc>
                  <a:spcPts val="1980"/>
                </a:lnSpc>
              </a:pPr>
            </a:p>
          </p:txBody>
        </p:sp>
      </p:grpSp>
      <p:sp>
        <p:nvSpPr>
          <p:cNvPr name="TextBox 41" id="41"/>
          <p:cNvSpPr txBox="true"/>
          <p:nvPr/>
        </p:nvSpPr>
        <p:spPr>
          <a:xfrm rot="0">
            <a:off x="17414748" y="9677400"/>
            <a:ext cx="1017118" cy="396659"/>
          </a:xfrm>
          <a:prstGeom prst="rect">
            <a:avLst/>
          </a:prstGeom>
        </p:spPr>
        <p:txBody>
          <a:bodyPr anchor="t" rtlCol="false" tIns="0" lIns="0" bIns="0" rIns="0">
            <a:spAutoFit/>
          </a:bodyPr>
          <a:lstStyle/>
          <a:p>
            <a:pPr algn="l">
              <a:lnSpc>
                <a:spcPts val="1800"/>
              </a:lnSpc>
            </a:pPr>
            <a:r>
              <a:rPr lang="en-US" sz="1500">
                <a:solidFill>
                  <a:srgbClr val="7A7A85"/>
                </a:solidFill>
                <a:latin typeface="Calibri (MS)"/>
                <a:ea typeface="Calibri (MS)"/>
                <a:cs typeface="Calibri (MS)"/>
                <a:sym typeface="Calibri (M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DAHXbkXm7-Q</dc:identifier>
  <dcterms:modified xsi:type="dcterms:W3CDTF">2011-08-01T06:04:30Z</dcterms:modified>
  <cp:revision>1</cp:revision>
  <dc:title>India_Crime_Intelligence_Dashboard (1).pptx</dc:title>
</cp:coreProperties>
</file>